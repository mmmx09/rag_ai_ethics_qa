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3"/>
    </p:embeddedFont>
    <p:embeddedFont>
      <p:font typeface="TT Rounds Condensed" charset="1" panose="02000506030000020003"/>
      <p:regular r:id="rId24"/>
    </p:embeddedFont>
    <p:embeddedFont>
      <p:font typeface="Calibri (MS)" charset="1" panose="020F0502020204030204"/>
      <p:regular r:id="rId26"/>
    </p:embeddedFont>
    <p:embeddedFont>
      <p:font typeface="Calibri (MS) Italics" charset="1" panose="020F05020202040A0204"/>
      <p:regular r:id="rId28"/>
    </p:embeddedFont>
    <p:embeddedFont>
      <p:font typeface="Courier New" charset="1" panose="02070309020205020404"/>
      <p:regular r:id="rId29"/>
    </p:embeddedFont>
    <p:embeddedFont>
      <p:font typeface="Courier New Bold" charset="1" panose="020706090202050204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37543" y="-1841497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565C0">
                <a:alpha val="470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1565C0">
                <a:alpha val="470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800583" y="6570983"/>
            <a:ext cx="4231643" cy="4231643"/>
            <a:chOff x="0" y="0"/>
            <a:chExt cx="5642191" cy="56421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56083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5608320">
                  <a:moveTo>
                    <a:pt x="0" y="2804160"/>
                  </a:moveTo>
                  <a:cubicBezTo>
                    <a:pt x="0" y="1255522"/>
                    <a:pt x="1255522" y="0"/>
                    <a:pt x="2804160" y="0"/>
                  </a:cubicBezTo>
                  <a:cubicBezTo>
                    <a:pt x="4352798" y="0"/>
                    <a:pt x="5608320" y="1255522"/>
                    <a:pt x="5608320" y="2804160"/>
                  </a:cubicBezTo>
                  <a:cubicBezTo>
                    <a:pt x="5608320" y="4352798"/>
                    <a:pt x="4352798" y="5608320"/>
                    <a:pt x="2804160" y="5608320"/>
                  </a:cubicBezTo>
                  <a:cubicBezTo>
                    <a:pt x="1255522" y="5608320"/>
                    <a:pt x="0" y="4352925"/>
                    <a:pt x="0" y="2804160"/>
                  </a:cubicBezTo>
                  <a:close/>
                </a:path>
              </a:pathLst>
            </a:custGeom>
            <a:solidFill>
              <a:srgbClr val="0097A7">
                <a:alpha val="745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42229" cy="5642102"/>
            </a:xfrm>
            <a:custGeom>
              <a:avLst/>
              <a:gdLst/>
              <a:ahLst/>
              <a:cxnLst/>
              <a:rect r="r" b="b" t="t" l="l"/>
              <a:pathLst>
                <a:path h="5642102" w="5642229">
                  <a:moveTo>
                    <a:pt x="0" y="2821051"/>
                  </a:moveTo>
                  <a:cubicBezTo>
                    <a:pt x="0" y="1263015"/>
                    <a:pt x="1263015" y="0"/>
                    <a:pt x="2821051" y="0"/>
                  </a:cubicBezTo>
                  <a:lnTo>
                    <a:pt x="2821051" y="16891"/>
                  </a:lnTo>
                  <a:lnTo>
                    <a:pt x="2821051" y="0"/>
                  </a:lnTo>
                  <a:cubicBezTo>
                    <a:pt x="4379087" y="0"/>
                    <a:pt x="5642229" y="1263015"/>
                    <a:pt x="5642229" y="2821051"/>
                  </a:cubicBezTo>
                  <a:lnTo>
                    <a:pt x="5625338" y="2821051"/>
                  </a:lnTo>
                  <a:lnTo>
                    <a:pt x="5642229" y="2821051"/>
                  </a:lnTo>
                  <a:cubicBezTo>
                    <a:pt x="5642229" y="4379087"/>
                    <a:pt x="4379214" y="5642102"/>
                    <a:pt x="2821178" y="5642102"/>
                  </a:cubicBezTo>
                  <a:lnTo>
                    <a:pt x="2821178" y="5625211"/>
                  </a:lnTo>
                  <a:lnTo>
                    <a:pt x="2821178" y="5642102"/>
                  </a:lnTo>
                  <a:cubicBezTo>
                    <a:pt x="1263015" y="5642229"/>
                    <a:pt x="0" y="4379087"/>
                    <a:pt x="0" y="2821051"/>
                  </a:cubicBezTo>
                  <a:lnTo>
                    <a:pt x="16891" y="282105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0" y="2821051"/>
                  </a:lnTo>
                  <a:moveTo>
                    <a:pt x="33909" y="2821051"/>
                  </a:moveTo>
                  <a:cubicBezTo>
                    <a:pt x="33909" y="2830449"/>
                    <a:pt x="26289" y="2837942"/>
                    <a:pt x="17018" y="2837942"/>
                  </a:cubicBezTo>
                  <a:cubicBezTo>
                    <a:pt x="7747" y="2837942"/>
                    <a:pt x="0" y="2830449"/>
                    <a:pt x="0" y="2821051"/>
                  </a:cubicBezTo>
                  <a:cubicBezTo>
                    <a:pt x="0" y="2811653"/>
                    <a:pt x="7620" y="2804160"/>
                    <a:pt x="16891" y="2804160"/>
                  </a:cubicBezTo>
                  <a:cubicBezTo>
                    <a:pt x="26162" y="2804160"/>
                    <a:pt x="33782" y="2811780"/>
                    <a:pt x="33782" y="2821051"/>
                  </a:cubicBezTo>
                  <a:cubicBezTo>
                    <a:pt x="33782" y="4360418"/>
                    <a:pt x="1281684" y="5608320"/>
                    <a:pt x="2821051" y="5608320"/>
                  </a:cubicBezTo>
                  <a:cubicBezTo>
                    <a:pt x="4360418" y="5608320"/>
                    <a:pt x="5608320" y="4360418"/>
                    <a:pt x="5608320" y="2821051"/>
                  </a:cubicBezTo>
                  <a:cubicBezTo>
                    <a:pt x="5608320" y="1281684"/>
                    <a:pt x="4360418" y="33782"/>
                    <a:pt x="2821051" y="33782"/>
                  </a:cubicBezTo>
                  <a:lnTo>
                    <a:pt x="2821051" y="16891"/>
                  </a:lnTo>
                  <a:lnTo>
                    <a:pt x="2821051" y="33909"/>
                  </a:lnTo>
                  <a:cubicBezTo>
                    <a:pt x="1281811" y="33909"/>
                    <a:pt x="33909" y="1281811"/>
                    <a:pt x="33909" y="2821051"/>
                  </a:cubicBezTo>
                  <a:close/>
                </a:path>
              </a:pathLst>
            </a:custGeom>
            <a:solidFill>
              <a:srgbClr val="0097A7">
                <a:alpha val="745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017520"/>
            <a:ext cx="16459200" cy="1737360"/>
            <a:chOff x="0" y="0"/>
            <a:chExt cx="21945600" cy="2316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21945600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System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4754880"/>
            <a:ext cx="15544800" cy="950976"/>
            <a:chOff x="0" y="0"/>
            <a:chExt cx="20726400" cy="12679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726400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26">
                  <a:solidFill>
                    <a:srgbClr val="00BCD4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AI Ethics &amp; Policy Q&amp;A Assistant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5350" y="5869686"/>
            <a:ext cx="8267700" cy="38100"/>
            <a:chOff x="0" y="0"/>
            <a:chExt cx="11023600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0"/>
              <a:ext cx="10972800" cy="50800"/>
            </a:xfrm>
            <a:custGeom>
              <a:avLst/>
              <a:gdLst/>
              <a:ahLst/>
              <a:cxnLst/>
              <a:rect r="r" b="b" t="t" l="l"/>
              <a:pathLst>
                <a:path h="50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6126480"/>
            <a:ext cx="14630400" cy="747601"/>
            <a:chOff x="0" y="0"/>
            <a:chExt cx="19507200" cy="9968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07200" cy="996801"/>
            </a:xfrm>
            <a:custGeom>
              <a:avLst/>
              <a:gdLst/>
              <a:ahLst/>
              <a:cxnLst/>
              <a:rect r="r" b="b" t="t" l="l"/>
              <a:pathLst>
                <a:path h="996801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96801"/>
                  </a:lnTo>
                  <a:lnTo>
                    <a:pt x="0" y="9968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4840" r="0" b="-3277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507200" cy="996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spc="-22">
                  <a:solidFill>
                    <a:srgbClr val="90CAF9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Minmin Xiang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Retrieval-Augmented Generation (RAG)?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1133856"/>
            <a:chOff x="0" y="0"/>
            <a:chExt cx="22433280" cy="1511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43328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RAG enhances LLM responses by retrieving relevant documents from an external knowledge base before generation. This grounds answers in real source material rather than relying solely on model weights — reducing hallucination and increasing factual precision.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6375" y="2821943"/>
            <a:ext cx="2585723" cy="1579883"/>
            <a:chOff x="0" y="0"/>
            <a:chExt cx="3447631" cy="2106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47542" cy="2106422"/>
            </a:xfrm>
            <a:custGeom>
              <a:avLst/>
              <a:gdLst/>
              <a:ahLst/>
              <a:cxnLst/>
              <a:rect r="r" b="b" t="t" l="l"/>
              <a:pathLst>
                <a:path h="2106422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2089531"/>
                  </a:lnTo>
                  <a:cubicBezTo>
                    <a:pt x="3447542" y="2098929"/>
                    <a:pt x="3439922" y="2106422"/>
                    <a:pt x="34306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3430651" y="2072640"/>
                  </a:lnTo>
                  <a:lnTo>
                    <a:pt x="3430651" y="2089531"/>
                  </a:lnTo>
                  <a:lnTo>
                    <a:pt x="3413760" y="208953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19072" y="2834640"/>
            <a:ext cx="2560320" cy="1554480"/>
            <a:chOff x="0" y="0"/>
            <a:chExt cx="3413760" cy="2072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t="0" r="-2789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41376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253989" y="3586477"/>
            <a:ext cx="562861" cy="50797"/>
            <a:chOff x="0" y="0"/>
            <a:chExt cx="750481" cy="677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3909" y="0"/>
              <a:ext cx="682752" cy="67691"/>
            </a:xfrm>
            <a:custGeom>
              <a:avLst/>
              <a:gdLst/>
              <a:ahLst/>
              <a:cxnLst/>
              <a:rect r="r" b="b" t="t" l="l"/>
              <a:pathLst>
                <a:path h="67691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778759" y="2821943"/>
            <a:ext cx="2585723" cy="1579883"/>
            <a:chOff x="0" y="0"/>
            <a:chExt cx="3447631" cy="21065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47542" cy="2106422"/>
            </a:xfrm>
            <a:custGeom>
              <a:avLst/>
              <a:gdLst/>
              <a:ahLst/>
              <a:cxnLst/>
              <a:rect r="r" b="b" t="t" l="l"/>
              <a:pathLst>
                <a:path h="2106422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2089531"/>
                  </a:lnTo>
                  <a:cubicBezTo>
                    <a:pt x="3447542" y="2098929"/>
                    <a:pt x="3439922" y="2106422"/>
                    <a:pt x="34306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3430651" y="2072640"/>
                  </a:lnTo>
                  <a:lnTo>
                    <a:pt x="3430651" y="2089531"/>
                  </a:lnTo>
                  <a:lnTo>
                    <a:pt x="3413760" y="208953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791456" y="2834640"/>
            <a:ext cx="2560320" cy="1554480"/>
            <a:chOff x="0" y="0"/>
            <a:chExt cx="3413760" cy="2072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t="0" r="-2789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41376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26373" y="3586477"/>
            <a:ext cx="562861" cy="50797"/>
            <a:chOff x="0" y="0"/>
            <a:chExt cx="750481" cy="677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3909" y="0"/>
              <a:ext cx="682752" cy="67691"/>
            </a:xfrm>
            <a:custGeom>
              <a:avLst/>
              <a:gdLst/>
              <a:ahLst/>
              <a:cxnLst/>
              <a:rect r="r" b="b" t="t" l="l"/>
              <a:pathLst>
                <a:path h="67691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851143" y="2821943"/>
            <a:ext cx="2585723" cy="1579883"/>
            <a:chOff x="0" y="0"/>
            <a:chExt cx="3447631" cy="21065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0897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47542" cy="2106422"/>
            </a:xfrm>
            <a:custGeom>
              <a:avLst/>
              <a:gdLst/>
              <a:ahLst/>
              <a:cxnLst/>
              <a:rect r="r" b="b" t="t" l="l"/>
              <a:pathLst>
                <a:path h="2106422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2089531"/>
                  </a:lnTo>
                  <a:cubicBezTo>
                    <a:pt x="3447542" y="2098929"/>
                    <a:pt x="3439922" y="2106422"/>
                    <a:pt x="34306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3430651" y="2072640"/>
                  </a:lnTo>
                  <a:lnTo>
                    <a:pt x="3430651" y="2089531"/>
                  </a:lnTo>
                  <a:lnTo>
                    <a:pt x="3413760" y="208953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97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863840" y="2834640"/>
            <a:ext cx="2560320" cy="1554480"/>
            <a:chOff x="0" y="0"/>
            <a:chExt cx="3413760" cy="2072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t="0" r="-2789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41376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Retrieve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Chunks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98757" y="3586477"/>
            <a:ext cx="562861" cy="50797"/>
            <a:chOff x="0" y="0"/>
            <a:chExt cx="750481" cy="677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33909" y="0"/>
              <a:ext cx="682752" cy="67691"/>
            </a:xfrm>
            <a:custGeom>
              <a:avLst/>
              <a:gdLst/>
              <a:ahLst/>
              <a:cxnLst/>
              <a:rect r="r" b="b" t="t" l="l"/>
              <a:pathLst>
                <a:path h="67691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23527" y="2821943"/>
            <a:ext cx="2585723" cy="1579883"/>
            <a:chOff x="0" y="0"/>
            <a:chExt cx="3447631" cy="2106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558B2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47542" cy="2106422"/>
            </a:xfrm>
            <a:custGeom>
              <a:avLst/>
              <a:gdLst/>
              <a:ahLst/>
              <a:cxnLst/>
              <a:rect r="r" b="b" t="t" l="l"/>
              <a:pathLst>
                <a:path h="2106422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2089531"/>
                  </a:lnTo>
                  <a:cubicBezTo>
                    <a:pt x="3447542" y="2098929"/>
                    <a:pt x="3439922" y="2106422"/>
                    <a:pt x="34306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3430651" y="2072640"/>
                  </a:lnTo>
                  <a:lnTo>
                    <a:pt x="3430651" y="2089531"/>
                  </a:lnTo>
                  <a:lnTo>
                    <a:pt x="3413760" y="208953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58B2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36224" y="2834640"/>
            <a:ext cx="2560320" cy="1554480"/>
            <a:chOff x="0" y="0"/>
            <a:chExt cx="3413760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t="0" r="-2789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41376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471141" y="3586477"/>
            <a:ext cx="562861" cy="50797"/>
            <a:chOff x="0" y="0"/>
            <a:chExt cx="750481" cy="677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3909" y="0"/>
              <a:ext cx="682752" cy="67691"/>
            </a:xfrm>
            <a:custGeom>
              <a:avLst/>
              <a:gdLst/>
              <a:ahLst/>
              <a:cxnLst/>
              <a:rect r="r" b="b" t="t" l="l"/>
              <a:pathLst>
                <a:path h="67691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995911" y="2821943"/>
            <a:ext cx="2585723" cy="1579883"/>
            <a:chOff x="0" y="0"/>
            <a:chExt cx="3447631" cy="21065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47542" cy="2106422"/>
            </a:xfrm>
            <a:custGeom>
              <a:avLst/>
              <a:gdLst/>
              <a:ahLst/>
              <a:cxnLst/>
              <a:rect r="r" b="b" t="t" l="l"/>
              <a:pathLst>
                <a:path h="2106422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2089531"/>
                  </a:lnTo>
                  <a:cubicBezTo>
                    <a:pt x="3447542" y="2098929"/>
                    <a:pt x="3439922" y="2106422"/>
                    <a:pt x="34306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3430651" y="2072640"/>
                  </a:lnTo>
                  <a:lnTo>
                    <a:pt x="3430651" y="2089531"/>
                  </a:lnTo>
                  <a:lnTo>
                    <a:pt x="3413760" y="208953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008608" y="2834640"/>
            <a:ext cx="2560320" cy="1554480"/>
            <a:chOff x="0" y="0"/>
            <a:chExt cx="3413760" cy="2072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137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98" t="0" r="-27898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41376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Answer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31520" y="4681728"/>
            <a:ext cx="16824960" cy="640080"/>
            <a:chOff x="0" y="0"/>
            <a:chExt cx="2243328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2433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RAG for AI Policy Documents?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8823" y="5473703"/>
            <a:ext cx="8072123" cy="1671323"/>
            <a:chOff x="0" y="0"/>
            <a:chExt cx="10762831" cy="22284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18823" y="5473703"/>
            <a:ext cx="153419" cy="1671323"/>
            <a:chOff x="0" y="0"/>
            <a:chExt cx="204559" cy="22284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33856" y="5596128"/>
            <a:ext cx="7406640" cy="512064"/>
            <a:chOff x="0" y="0"/>
            <a:chExt cx="987552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875520" cy="682752"/>
            </a:xfrm>
            <a:custGeom>
              <a:avLst/>
              <a:gdLst/>
              <a:ahLst/>
              <a:cxnLst/>
              <a:rect r="r" b="b" t="t" l="l"/>
              <a:pathLst>
                <a:path h="68275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7" r="0" b="-23183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875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Factual grounding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3856" y="6144768"/>
            <a:ext cx="7406640" cy="877824"/>
            <a:chOff x="0" y="0"/>
            <a:chExt cx="9875520" cy="11704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875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9875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LLMs hallucinate. RAG constrains answers to actual EU AI Act, OECD and UNESCO text.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05623" y="5473703"/>
            <a:ext cx="8072123" cy="1671323"/>
            <a:chOff x="0" y="0"/>
            <a:chExt cx="10762831" cy="22284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405623" y="5473703"/>
            <a:ext cx="153419" cy="1671323"/>
            <a:chOff x="0" y="0"/>
            <a:chExt cx="204559" cy="222843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820656" y="5596128"/>
            <a:ext cx="7406640" cy="512064"/>
            <a:chOff x="0" y="0"/>
            <a:chExt cx="987552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875520" cy="682752"/>
            </a:xfrm>
            <a:custGeom>
              <a:avLst/>
              <a:gdLst/>
              <a:ahLst/>
              <a:cxnLst/>
              <a:rect r="r" b="b" t="t" l="l"/>
              <a:pathLst>
                <a:path h="68275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7" r="0" b="-23183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875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Up-to-date knowledge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820656" y="6144768"/>
            <a:ext cx="7406640" cy="877824"/>
            <a:chOff x="0" y="0"/>
            <a:chExt cx="9875520" cy="11704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875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9875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Policy documents update without retraining — just re-embed and reload ChromaDB.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18823" y="7339079"/>
            <a:ext cx="8072123" cy="1671323"/>
            <a:chOff x="0" y="0"/>
            <a:chExt cx="10762831" cy="22284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18823" y="7339079"/>
            <a:ext cx="153419" cy="1671323"/>
            <a:chOff x="0" y="0"/>
            <a:chExt cx="204559" cy="222843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33856" y="7461504"/>
            <a:ext cx="7406640" cy="512064"/>
            <a:chOff x="0" y="0"/>
            <a:chExt cx="987552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875520" cy="682752"/>
            </a:xfrm>
            <a:custGeom>
              <a:avLst/>
              <a:gdLst/>
              <a:ahLst/>
              <a:cxnLst/>
              <a:rect r="r" b="b" t="t" l="l"/>
              <a:pathLst>
                <a:path h="68275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7" r="0" b="-23183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875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Transparency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33856" y="8010144"/>
            <a:ext cx="7406640" cy="877824"/>
            <a:chOff x="0" y="0"/>
            <a:chExt cx="9875520" cy="117043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875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9875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Retrieved chunks can be shown to users, making the system auditable.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405623" y="7339079"/>
            <a:ext cx="8072123" cy="1671323"/>
            <a:chOff x="0" y="0"/>
            <a:chExt cx="10762831" cy="222843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107289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7627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211451"/>
                  </a:lnTo>
                  <a:cubicBezTo>
                    <a:pt x="10762742" y="2220849"/>
                    <a:pt x="10755122" y="2228342"/>
                    <a:pt x="1074585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745851" y="2194560"/>
                  </a:lnTo>
                  <a:lnTo>
                    <a:pt x="10745851" y="2211451"/>
                  </a:lnTo>
                  <a:lnTo>
                    <a:pt x="10728960" y="22114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405623" y="7339079"/>
            <a:ext cx="153419" cy="1671323"/>
            <a:chOff x="0" y="0"/>
            <a:chExt cx="204559" cy="222843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70688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4470" cy="2228342"/>
            </a:xfrm>
            <a:custGeom>
              <a:avLst/>
              <a:gdLst/>
              <a:ahLst/>
              <a:cxnLst/>
              <a:rect r="r" b="b" t="t" l="l"/>
              <a:pathLst>
                <a:path h="22283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211451"/>
                  </a:lnTo>
                  <a:cubicBezTo>
                    <a:pt x="204470" y="2220849"/>
                    <a:pt x="196850" y="2228342"/>
                    <a:pt x="187579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87579" y="2194560"/>
                  </a:lnTo>
                  <a:lnTo>
                    <a:pt x="187579" y="2211451"/>
                  </a:lnTo>
                  <a:lnTo>
                    <a:pt x="170688" y="22114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820656" y="7461504"/>
            <a:ext cx="7406640" cy="512064"/>
            <a:chOff x="0" y="0"/>
            <a:chExt cx="987552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875520" cy="682752"/>
            </a:xfrm>
            <a:custGeom>
              <a:avLst/>
              <a:gdLst/>
              <a:ahLst/>
              <a:cxnLst/>
              <a:rect r="r" b="b" t="t" l="l"/>
              <a:pathLst>
                <a:path h="68275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37" r="0" b="-23183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9875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 specificity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820656" y="8010144"/>
            <a:ext cx="7406640" cy="877824"/>
            <a:chOff x="0" y="0"/>
            <a:chExt cx="9875520" cy="117043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875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87552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 LLMs lack deep regulatory knowledge. RAG fills that gap cheaply.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 — Data Preparation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Three authoritative AI policy PDFs form the knowledge base. They were selected for complementary scope: legal obligations (EU), normative principles (OECD), and ethical values (UNESCO).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620775"/>
            <a:ext cx="5511803" cy="3865883"/>
            <a:chOff x="0" y="0"/>
            <a:chExt cx="7349071" cy="5154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620775"/>
            <a:ext cx="5511803" cy="153419"/>
            <a:chOff x="0" y="0"/>
            <a:chExt cx="734907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68096" y="2816352"/>
            <a:ext cx="5047488" cy="640080"/>
            <a:chOff x="0" y="0"/>
            <a:chExt cx="6729984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29984" cy="853440"/>
            </a:xfrm>
            <a:custGeom>
              <a:avLst/>
              <a:gdLst/>
              <a:ahLst/>
              <a:cxnLst/>
              <a:rect r="r" b="b" t="t" l="l"/>
              <a:pathLst>
                <a:path h="85344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53" r="0" b="-1036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729984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EU AI Act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8096" y="3474720"/>
            <a:ext cx="5047488" cy="457200"/>
            <a:chOff x="0" y="0"/>
            <a:chExt cx="6729984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29984" cy="609600"/>
            </a:xfrm>
            <a:custGeom>
              <a:avLst/>
              <a:gdLst/>
              <a:ahLst/>
              <a:cxnLst/>
              <a:rect r="r" b="b" t="t" l="l"/>
              <a:pathLst>
                <a:path h="60960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114" r="0" b="-1651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729984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546E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European Parliament, 2024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68096" y="3986784"/>
            <a:ext cx="5047488" cy="2304288"/>
            <a:chOff x="0" y="0"/>
            <a:chExt cx="6729984" cy="30723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29984" cy="3072384"/>
            </a:xfrm>
            <a:custGeom>
              <a:avLst/>
              <a:gdLst/>
              <a:ahLst/>
              <a:cxnLst/>
              <a:rect r="r" b="b" t="t" l="l"/>
              <a:pathLst>
                <a:path h="3072384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3072384"/>
                  </a:lnTo>
                  <a:lnTo>
                    <a:pt x="0" y="3072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73" t="0" r="-857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729984" cy="3120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Legally binding framework classifying AI systems by risk level. Defines prohibited practices, obligations for high-risk systems, and conformity assessment procedures.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88103" y="2620775"/>
            <a:ext cx="5511803" cy="3865883"/>
            <a:chOff x="0" y="0"/>
            <a:chExt cx="7349071" cy="51545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88103" y="2620775"/>
            <a:ext cx="5511803" cy="153419"/>
            <a:chOff x="0" y="0"/>
            <a:chExt cx="7349071" cy="204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620256" y="2816352"/>
            <a:ext cx="5047488" cy="640080"/>
            <a:chOff x="0" y="0"/>
            <a:chExt cx="6729984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29984" cy="853440"/>
            </a:xfrm>
            <a:custGeom>
              <a:avLst/>
              <a:gdLst/>
              <a:ahLst/>
              <a:cxnLst/>
              <a:rect r="r" b="b" t="t" l="l"/>
              <a:pathLst>
                <a:path h="85344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53" r="0" b="-1036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729984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97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OECD AI Principles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20256" y="3474720"/>
            <a:ext cx="5047488" cy="457200"/>
            <a:chOff x="0" y="0"/>
            <a:chExt cx="6729984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29984" cy="609600"/>
            </a:xfrm>
            <a:custGeom>
              <a:avLst/>
              <a:gdLst/>
              <a:ahLst/>
              <a:cxnLst/>
              <a:rect r="r" b="b" t="t" l="l"/>
              <a:pathLst>
                <a:path h="60960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114" r="0" b="-16511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29984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546E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OECD, 2019 (rev. 2024)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20256" y="3986784"/>
            <a:ext cx="5047488" cy="2304288"/>
            <a:chOff x="0" y="0"/>
            <a:chExt cx="6729984" cy="30723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29984" cy="3072384"/>
            </a:xfrm>
            <a:custGeom>
              <a:avLst/>
              <a:gdLst/>
              <a:ahLst/>
              <a:cxnLst/>
              <a:rect r="r" b="b" t="t" l="l"/>
              <a:pathLst>
                <a:path h="3072384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3072384"/>
                  </a:lnTo>
                  <a:lnTo>
                    <a:pt x="0" y="3072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73" t="0" r="-857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729984" cy="3120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Government-endorsed principles for trustworthy AI covering transparency, accountability, robustness, and inclusive growth.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40263" y="2620775"/>
            <a:ext cx="5511803" cy="3865883"/>
            <a:chOff x="0" y="0"/>
            <a:chExt cx="7349071" cy="51545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89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137531"/>
                  </a:lnTo>
                  <a:cubicBezTo>
                    <a:pt x="7348982" y="5146929"/>
                    <a:pt x="7341362" y="5154422"/>
                    <a:pt x="73320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332091" y="5120640"/>
                  </a:lnTo>
                  <a:lnTo>
                    <a:pt x="7332091" y="5137531"/>
                  </a:lnTo>
                  <a:lnTo>
                    <a:pt x="7315200" y="51375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240263" y="2620775"/>
            <a:ext cx="5511803" cy="153419"/>
            <a:chOff x="0" y="0"/>
            <a:chExt cx="7349071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472416" y="2816352"/>
            <a:ext cx="5047488" cy="640080"/>
            <a:chOff x="0" y="0"/>
            <a:chExt cx="6729984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29984" cy="853440"/>
            </a:xfrm>
            <a:custGeom>
              <a:avLst/>
              <a:gdLst/>
              <a:ahLst/>
              <a:cxnLst/>
              <a:rect r="r" b="b" t="t" l="l"/>
              <a:pathLst>
                <a:path h="85344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53" r="0" b="-1036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729984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UNESCO Recommendation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72416" y="3474720"/>
            <a:ext cx="5047488" cy="457200"/>
            <a:chOff x="0" y="0"/>
            <a:chExt cx="6729984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29984" cy="609600"/>
            </a:xfrm>
            <a:custGeom>
              <a:avLst/>
              <a:gdLst/>
              <a:ahLst/>
              <a:cxnLst/>
              <a:rect r="r" b="b" t="t" l="l"/>
              <a:pathLst>
                <a:path h="60960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114" r="0" b="-16511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729984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546E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UNESCO, 2021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72416" y="3986784"/>
            <a:ext cx="5047488" cy="2304288"/>
            <a:chOff x="0" y="0"/>
            <a:chExt cx="6729984" cy="30723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29984" cy="3072384"/>
            </a:xfrm>
            <a:custGeom>
              <a:avLst/>
              <a:gdLst/>
              <a:ahLst/>
              <a:cxnLst/>
              <a:rect r="r" b="b" t="t" l="l"/>
              <a:pathLst>
                <a:path h="3072384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3072384"/>
                  </a:lnTo>
                  <a:lnTo>
                    <a:pt x="0" y="3072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73" t="0" r="-857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729984" cy="3120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Global ethical framework emphasising human rights, environmental sustainability, and inclusive development in AI deployment.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31520" y="6729984"/>
            <a:ext cx="16459200" cy="548640"/>
            <a:chOff x="0" y="0"/>
            <a:chExt cx="219456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Chunking Strategy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31520" y="8678849"/>
            <a:ext cx="16824960" cy="821812"/>
            <a:chOff x="0" y="0"/>
            <a:chExt cx="22237245" cy="108617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363" y="5247"/>
              <a:ext cx="22204433" cy="1075652"/>
            </a:xfrm>
            <a:custGeom>
              <a:avLst/>
              <a:gdLst/>
              <a:ahLst/>
              <a:cxnLst/>
              <a:rect r="r" b="b" t="t" l="l"/>
              <a:pathLst>
                <a:path h="1075652" w="22204433">
                  <a:moveTo>
                    <a:pt x="0" y="0"/>
                  </a:moveTo>
                  <a:lnTo>
                    <a:pt x="22204433" y="0"/>
                  </a:lnTo>
                  <a:lnTo>
                    <a:pt x="22204433" y="1075652"/>
                  </a:lnTo>
                  <a:lnTo>
                    <a:pt x="0" y="1075652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237160" cy="1086146"/>
            </a:xfrm>
            <a:custGeom>
              <a:avLst/>
              <a:gdLst/>
              <a:ahLst/>
              <a:cxnLst/>
              <a:rect r="r" b="b" t="t" l="l"/>
              <a:pathLst>
                <a:path h="1086146" w="22237160">
                  <a:moveTo>
                    <a:pt x="16363" y="0"/>
                  </a:moveTo>
                  <a:lnTo>
                    <a:pt x="22220796" y="0"/>
                  </a:lnTo>
                  <a:cubicBezTo>
                    <a:pt x="22229900" y="0"/>
                    <a:pt x="22237160" y="2367"/>
                    <a:pt x="22237160" y="5247"/>
                  </a:cubicBezTo>
                  <a:lnTo>
                    <a:pt x="22237160" y="1080899"/>
                  </a:lnTo>
                  <a:cubicBezTo>
                    <a:pt x="22237160" y="1083818"/>
                    <a:pt x="22229778" y="1086146"/>
                    <a:pt x="22220796" y="1086146"/>
                  </a:cubicBezTo>
                  <a:lnTo>
                    <a:pt x="16363" y="1086146"/>
                  </a:lnTo>
                  <a:cubicBezTo>
                    <a:pt x="7259" y="1086146"/>
                    <a:pt x="0" y="1083779"/>
                    <a:pt x="0" y="1080899"/>
                  </a:cubicBezTo>
                  <a:lnTo>
                    <a:pt x="0" y="5247"/>
                  </a:lnTo>
                  <a:cubicBezTo>
                    <a:pt x="0" y="2367"/>
                    <a:pt x="7382" y="0"/>
                    <a:pt x="16363" y="0"/>
                  </a:cubicBezTo>
                  <a:moveTo>
                    <a:pt x="16363" y="10534"/>
                  </a:moveTo>
                  <a:lnTo>
                    <a:pt x="16363" y="5247"/>
                  </a:lnTo>
                  <a:lnTo>
                    <a:pt x="32849" y="5247"/>
                  </a:lnTo>
                  <a:lnTo>
                    <a:pt x="32849" y="1080899"/>
                  </a:lnTo>
                  <a:lnTo>
                    <a:pt x="16363" y="1080899"/>
                  </a:lnTo>
                  <a:lnTo>
                    <a:pt x="16363" y="1075652"/>
                  </a:lnTo>
                  <a:lnTo>
                    <a:pt x="22220796" y="1075652"/>
                  </a:lnTo>
                  <a:lnTo>
                    <a:pt x="22220796" y="1080899"/>
                  </a:lnTo>
                  <a:lnTo>
                    <a:pt x="22204434" y="1080899"/>
                  </a:lnTo>
                  <a:lnTo>
                    <a:pt x="22204434" y="5247"/>
                  </a:lnTo>
                  <a:lnTo>
                    <a:pt x="22220796" y="5247"/>
                  </a:lnTo>
                  <a:lnTo>
                    <a:pt x="22220796" y="10534"/>
                  </a:lnTo>
                  <a:lnTo>
                    <a:pt x="16363" y="10534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61748" y="8678849"/>
            <a:ext cx="16642080" cy="821812"/>
            <a:chOff x="0" y="0"/>
            <a:chExt cx="22189440" cy="109574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189439" cy="1095749"/>
            </a:xfrm>
            <a:custGeom>
              <a:avLst/>
              <a:gdLst/>
              <a:ahLst/>
              <a:cxnLst/>
              <a:rect r="r" b="b" t="t" l="l"/>
              <a:pathLst>
                <a:path h="1095749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095749"/>
                  </a:lnTo>
                  <a:lnTo>
                    <a:pt x="0" y="10957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83" r="0" b="-45257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22189440" cy="1105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CDD6F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splitter = RecursiveCharacterTextSplitter(chunk_size=1000, chunk_overlap=200)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731520" y="7335774"/>
            <a:ext cx="17367894" cy="11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 spc="-15" strike="noStrike" u="none">
                <a:solidFill>
                  <a:srgbClr val="1A2E3B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Each PDF is loaded with PyPDFLoader, then split into overlapping chunks.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 spc="-15" strike="noStrike" u="none">
                <a:solidFill>
                  <a:srgbClr val="1A2E3B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chunk_overlap=200 preserves sentence context across chunk boundaries, preventing relevant sentences from being cut off between adjacent chunks.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 — Embedding Generation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914400"/>
            <a:chOff x="0" y="0"/>
            <a:chExt cx="2243328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Each text chunk is converted into a dense vector using a Sentence Transformer model. Two models are evaluated to compare retrieval quality and inference speed.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511047"/>
            <a:ext cx="8346443" cy="3865883"/>
            <a:chOff x="0" y="0"/>
            <a:chExt cx="11128591" cy="5154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137531"/>
                  </a:lnTo>
                  <a:cubicBezTo>
                    <a:pt x="11128501" y="5146929"/>
                    <a:pt x="11120882" y="5154422"/>
                    <a:pt x="1111161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111611" y="5120640"/>
                  </a:lnTo>
                  <a:lnTo>
                    <a:pt x="11111611" y="5137531"/>
                  </a:lnTo>
                  <a:lnTo>
                    <a:pt x="11094720" y="51375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511047"/>
            <a:ext cx="153419" cy="3865883"/>
            <a:chOff x="0" y="0"/>
            <a:chExt cx="204559" cy="5154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670048"/>
            <a:ext cx="7680960" cy="640080"/>
            <a:chOff x="0" y="0"/>
            <a:chExt cx="1024128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412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all-MiniLM-L6-v2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3438144"/>
            <a:ext cx="2011680" cy="548640"/>
            <a:chOff x="0" y="0"/>
            <a:chExt cx="26822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46E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Dimensions: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017520" y="3438144"/>
            <a:ext cx="5486400" cy="548640"/>
            <a:chOff x="0" y="0"/>
            <a:chExt cx="73152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384 dimensions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4078224"/>
            <a:ext cx="2011680" cy="548640"/>
            <a:chOff x="0" y="0"/>
            <a:chExt cx="26822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46E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Speed: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017520" y="4078224"/>
            <a:ext cx="5486400" cy="548640"/>
            <a:chOff x="0" y="0"/>
            <a:chExt cx="7315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~0.05 s / query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4718304"/>
            <a:ext cx="2011680" cy="548640"/>
            <a:chOff x="0" y="0"/>
            <a:chExt cx="268224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46E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Quality: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017520" y="4718304"/>
            <a:ext cx="5486400" cy="548640"/>
            <a:chOff x="0" y="0"/>
            <a:chExt cx="73152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Good general-purpose retrieval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5358384"/>
            <a:ext cx="2011680" cy="548640"/>
            <a:chOff x="0" y="0"/>
            <a:chExt cx="268224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46E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Memory: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017520" y="5358384"/>
            <a:ext cx="5486400" cy="548640"/>
            <a:chOff x="0" y="0"/>
            <a:chExt cx="73152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~80 MB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05623" y="2511047"/>
            <a:ext cx="8346443" cy="3865883"/>
            <a:chOff x="0" y="0"/>
            <a:chExt cx="11128591" cy="51545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09472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28501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137531"/>
                  </a:lnTo>
                  <a:cubicBezTo>
                    <a:pt x="11128501" y="5146929"/>
                    <a:pt x="11120882" y="5154422"/>
                    <a:pt x="1111161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111611" y="5120640"/>
                  </a:lnTo>
                  <a:lnTo>
                    <a:pt x="11111611" y="5137531"/>
                  </a:lnTo>
                  <a:lnTo>
                    <a:pt x="11094720" y="51375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05623" y="2511047"/>
            <a:ext cx="153419" cy="3865883"/>
            <a:chOff x="0" y="0"/>
            <a:chExt cx="204559" cy="51545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5154422"/>
            </a:xfrm>
            <a:custGeom>
              <a:avLst/>
              <a:gdLst/>
              <a:ahLst/>
              <a:cxnLst/>
              <a:rect r="r" b="b" t="t" l="l"/>
              <a:pathLst>
                <a:path h="51544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5137531"/>
                  </a:lnTo>
                  <a:cubicBezTo>
                    <a:pt x="204470" y="5146929"/>
                    <a:pt x="196850" y="5154422"/>
                    <a:pt x="187579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87579" y="5120640"/>
                  </a:lnTo>
                  <a:lnTo>
                    <a:pt x="187579" y="5137531"/>
                  </a:lnTo>
                  <a:lnTo>
                    <a:pt x="170688" y="51375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84080" y="2670048"/>
            <a:ext cx="7680960" cy="640080"/>
            <a:chOff x="0" y="0"/>
            <a:chExt cx="1024128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2412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97A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all-mpnet-base-v2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84080" y="3438144"/>
            <a:ext cx="2011680" cy="548640"/>
            <a:chOff x="0" y="0"/>
            <a:chExt cx="26822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46E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Dimensions: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87200" y="3438144"/>
            <a:ext cx="5486400" cy="548640"/>
            <a:chOff x="0" y="0"/>
            <a:chExt cx="73152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768 dimensions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84080" y="4078224"/>
            <a:ext cx="2011680" cy="548640"/>
            <a:chOff x="0" y="0"/>
            <a:chExt cx="268224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46E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Speed: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887200" y="4078224"/>
            <a:ext cx="5486400" cy="548640"/>
            <a:chOff x="0" y="0"/>
            <a:chExt cx="73152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~0.09 s / query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84080" y="4718304"/>
            <a:ext cx="2011680" cy="548640"/>
            <a:chOff x="0" y="0"/>
            <a:chExt cx="268224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46E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Quality: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887200" y="4718304"/>
            <a:ext cx="5486400" cy="548640"/>
            <a:chOff x="0" y="0"/>
            <a:chExt cx="73152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Superior on dense legal / policy language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784080" y="5358384"/>
            <a:ext cx="2011680" cy="548640"/>
            <a:chOff x="0" y="0"/>
            <a:chExt cx="26822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46E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Memory: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887200" y="5358384"/>
            <a:ext cx="5486400" cy="548640"/>
            <a:chOff x="0" y="0"/>
            <a:chExt cx="73152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7315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~420 MB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31515" y="6764392"/>
            <a:ext cx="16459200" cy="548640"/>
            <a:chOff x="0" y="0"/>
            <a:chExt cx="2194560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Embedding function — same interface for both models: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35938" y="7355200"/>
            <a:ext cx="17216123" cy="1596313"/>
            <a:chOff x="0" y="0"/>
            <a:chExt cx="22954831" cy="212841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3236"/>
              <a:ext cx="22920960" cy="2101876"/>
            </a:xfrm>
            <a:custGeom>
              <a:avLst/>
              <a:gdLst/>
              <a:ahLst/>
              <a:cxnLst/>
              <a:rect r="r" b="b" t="t" l="l"/>
              <a:pathLst>
                <a:path h="210187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101876"/>
                  </a:lnTo>
                  <a:lnTo>
                    <a:pt x="0" y="2101876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954743" cy="2128348"/>
            </a:xfrm>
            <a:custGeom>
              <a:avLst/>
              <a:gdLst/>
              <a:ahLst/>
              <a:cxnLst/>
              <a:rect r="r" b="b" t="t" l="l"/>
              <a:pathLst>
                <a:path h="2128348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5971"/>
                    <a:pt x="22954743" y="13236"/>
                  </a:cubicBezTo>
                  <a:lnTo>
                    <a:pt x="22954743" y="2115112"/>
                  </a:lnTo>
                  <a:cubicBezTo>
                    <a:pt x="22954743" y="2122476"/>
                    <a:pt x="22947123" y="2128348"/>
                    <a:pt x="22937851" y="2128348"/>
                  </a:cubicBezTo>
                  <a:lnTo>
                    <a:pt x="16891" y="2128348"/>
                  </a:lnTo>
                  <a:cubicBezTo>
                    <a:pt x="7493" y="2128348"/>
                    <a:pt x="0" y="2122377"/>
                    <a:pt x="0" y="2115112"/>
                  </a:cubicBezTo>
                  <a:lnTo>
                    <a:pt x="0" y="13236"/>
                  </a:lnTo>
                  <a:cubicBezTo>
                    <a:pt x="0" y="5971"/>
                    <a:pt x="7620" y="0"/>
                    <a:pt x="16891" y="0"/>
                  </a:cubicBezTo>
                  <a:moveTo>
                    <a:pt x="16891" y="26572"/>
                  </a:moveTo>
                  <a:lnTo>
                    <a:pt x="16891" y="13236"/>
                  </a:lnTo>
                  <a:lnTo>
                    <a:pt x="33909" y="13236"/>
                  </a:lnTo>
                  <a:lnTo>
                    <a:pt x="33909" y="2115112"/>
                  </a:lnTo>
                  <a:lnTo>
                    <a:pt x="16891" y="2115112"/>
                  </a:lnTo>
                  <a:lnTo>
                    <a:pt x="16891" y="2101875"/>
                  </a:lnTo>
                  <a:lnTo>
                    <a:pt x="22937851" y="2101875"/>
                  </a:lnTo>
                  <a:lnTo>
                    <a:pt x="22937851" y="2115112"/>
                  </a:lnTo>
                  <a:lnTo>
                    <a:pt x="22920961" y="2115112"/>
                  </a:lnTo>
                  <a:lnTo>
                    <a:pt x="22920961" y="13236"/>
                  </a:lnTo>
                  <a:lnTo>
                    <a:pt x="22937851" y="13236"/>
                  </a:lnTo>
                  <a:lnTo>
                    <a:pt x="22937851" y="26572"/>
                  </a:lnTo>
                  <a:lnTo>
                    <a:pt x="16891" y="26572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14395" y="7367896"/>
            <a:ext cx="16642080" cy="2011680"/>
            <a:chOff x="0" y="0"/>
            <a:chExt cx="22189440" cy="2682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18943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194" r="0" b="-11119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218944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CDD6F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 embed(model, text):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CDD6F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return model.encode([text], normalize_embeddings=True).tolist()[0]</a:t>
              </a:r>
            </a:p>
            <a:p>
              <a:pPr algn="l">
                <a:lnSpc>
                  <a:spcPts val="299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 — Vector Database Setup with ChromaDB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ChromaDB is a local, persistent vector database. Two independent collections are created — one per embedding model — so retrieval quality can be compared fairly on identical queries.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620775"/>
            <a:ext cx="7889243" cy="6883403"/>
            <a:chOff x="0" y="0"/>
            <a:chExt cx="10518991" cy="9177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8512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8901" cy="9177782"/>
            </a:xfrm>
            <a:custGeom>
              <a:avLst/>
              <a:gdLst/>
              <a:ahLst/>
              <a:cxnLst/>
              <a:rect r="r" b="b" t="t" l="l"/>
              <a:pathLst>
                <a:path h="91777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9160891"/>
                  </a:lnTo>
                  <a:cubicBezTo>
                    <a:pt x="10518901" y="9170289"/>
                    <a:pt x="10511282" y="9177782"/>
                    <a:pt x="10502011" y="9177782"/>
                  </a:cubicBezTo>
                  <a:lnTo>
                    <a:pt x="16891" y="9177782"/>
                  </a:lnTo>
                  <a:cubicBezTo>
                    <a:pt x="7493" y="9177782"/>
                    <a:pt x="0" y="9170162"/>
                    <a:pt x="0" y="9160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160891"/>
                  </a:lnTo>
                  <a:lnTo>
                    <a:pt x="16891" y="9160891"/>
                  </a:lnTo>
                  <a:lnTo>
                    <a:pt x="16891" y="9144000"/>
                  </a:lnTo>
                  <a:lnTo>
                    <a:pt x="10502011" y="9144000"/>
                  </a:lnTo>
                  <a:lnTo>
                    <a:pt x="10502011" y="9160891"/>
                  </a:lnTo>
                  <a:lnTo>
                    <a:pt x="10485120" y="91608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620775"/>
            <a:ext cx="153419" cy="6883403"/>
            <a:chOff x="0" y="0"/>
            <a:chExt cx="204559" cy="9177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9144000"/>
            </a:xfrm>
            <a:custGeom>
              <a:avLst/>
              <a:gdLst/>
              <a:ahLst/>
              <a:cxnLst/>
              <a:rect r="r" b="b" t="t" l="l"/>
              <a:pathLst>
                <a:path h="9144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9177782"/>
            </a:xfrm>
            <a:custGeom>
              <a:avLst/>
              <a:gdLst/>
              <a:ahLst/>
              <a:cxnLst/>
              <a:rect r="r" b="b" t="t" l="l"/>
              <a:pathLst>
                <a:path h="9177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9160891"/>
                  </a:lnTo>
                  <a:cubicBezTo>
                    <a:pt x="204470" y="9170289"/>
                    <a:pt x="196850" y="9177782"/>
                    <a:pt x="187579" y="9177782"/>
                  </a:cubicBezTo>
                  <a:lnTo>
                    <a:pt x="16891" y="9177782"/>
                  </a:lnTo>
                  <a:cubicBezTo>
                    <a:pt x="7493" y="9177782"/>
                    <a:pt x="0" y="9170162"/>
                    <a:pt x="0" y="9160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160891"/>
                  </a:lnTo>
                  <a:lnTo>
                    <a:pt x="16891" y="9160891"/>
                  </a:lnTo>
                  <a:lnTo>
                    <a:pt x="16891" y="9144000"/>
                  </a:lnTo>
                  <a:lnTo>
                    <a:pt x="187579" y="9144000"/>
                  </a:lnTo>
                  <a:lnTo>
                    <a:pt x="187579" y="9160891"/>
                  </a:lnTo>
                  <a:lnTo>
                    <a:pt x="170688" y="91608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779776"/>
            <a:ext cx="7132320" cy="640080"/>
            <a:chOff x="0" y="0"/>
            <a:chExt cx="950976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ChromaDB Architecture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3143" y="3590039"/>
            <a:ext cx="537467" cy="537467"/>
            <a:chOff x="0" y="0"/>
            <a:chExt cx="716623" cy="71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3602736"/>
            <a:ext cx="512064" cy="512064"/>
            <a:chOff x="0" y="0"/>
            <a:chExt cx="682752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73936" y="3602736"/>
            <a:ext cx="6217920" cy="493776"/>
            <a:chOff x="0" y="0"/>
            <a:chExt cx="829056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90560" cy="658368"/>
            </a:xfrm>
            <a:custGeom>
              <a:avLst/>
              <a:gdLst/>
              <a:ahLst/>
              <a:cxnLst/>
              <a:rect r="r" b="b" t="t" l="l"/>
              <a:pathLst>
                <a:path h="6583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367" r="0" b="-1953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29056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PersistentClient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73936" y="4096512"/>
            <a:ext cx="6217920" cy="731520"/>
            <a:chOff x="0" y="0"/>
            <a:chExt cx="82905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90560" cy="975360"/>
            </a:xfrm>
            <a:custGeom>
              <a:avLst/>
              <a:gdLst/>
              <a:ahLst/>
              <a:cxnLst/>
              <a:rect r="r" b="b" t="t" l="l"/>
              <a:pathLst>
                <a:path h="9753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2905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Stores data on disk at ./rag_db — survives notebook restarts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3143" y="5053079"/>
            <a:ext cx="537467" cy="537467"/>
            <a:chOff x="0" y="0"/>
            <a:chExt cx="716623" cy="7166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5840" y="5065776"/>
            <a:ext cx="512064" cy="512064"/>
            <a:chOff x="0" y="0"/>
            <a:chExt cx="682752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73936" y="5065776"/>
            <a:ext cx="6217920" cy="493776"/>
            <a:chOff x="0" y="0"/>
            <a:chExt cx="8290560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90560" cy="658368"/>
            </a:xfrm>
            <a:custGeom>
              <a:avLst/>
              <a:gdLst/>
              <a:ahLst/>
              <a:cxnLst/>
              <a:rect r="r" b="b" t="t" l="l"/>
              <a:pathLst>
                <a:path h="6583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367" r="0" b="-1953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29056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col_minilm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73936" y="5559552"/>
            <a:ext cx="6217920" cy="731520"/>
            <a:chOff x="0" y="0"/>
            <a:chExt cx="829056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90560" cy="975360"/>
            </a:xfrm>
            <a:custGeom>
              <a:avLst/>
              <a:gdLst/>
              <a:ahLst/>
              <a:cxnLst/>
              <a:rect r="r" b="b" t="t" l="l"/>
              <a:pathLst>
                <a:path h="9753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2905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chunks embedded with MiniLM (384-dim vectors)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3143" y="6516119"/>
            <a:ext cx="537467" cy="537467"/>
            <a:chOff x="0" y="0"/>
            <a:chExt cx="716623" cy="7166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05840" y="6528816"/>
            <a:ext cx="512064" cy="512064"/>
            <a:chOff x="0" y="0"/>
            <a:chExt cx="682752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73936" y="6528816"/>
            <a:ext cx="6217920" cy="493776"/>
            <a:chOff x="0" y="0"/>
            <a:chExt cx="8290560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90560" cy="658368"/>
            </a:xfrm>
            <a:custGeom>
              <a:avLst/>
              <a:gdLst/>
              <a:ahLst/>
              <a:cxnLst/>
              <a:rect r="r" b="b" t="t" l="l"/>
              <a:pathLst>
                <a:path h="6583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367" r="0" b="-19536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29056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col_mpnet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73936" y="7022592"/>
            <a:ext cx="6217920" cy="731520"/>
            <a:chOff x="0" y="0"/>
            <a:chExt cx="829056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90560" cy="975360"/>
            </a:xfrm>
            <a:custGeom>
              <a:avLst/>
              <a:gdLst/>
              <a:ahLst/>
              <a:cxnLst/>
              <a:rect r="r" b="b" t="t" l="l"/>
              <a:pathLst>
                <a:path h="9753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82905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chunks embedded with MPNet (768-dim vectors)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3143" y="7979159"/>
            <a:ext cx="537467" cy="537467"/>
            <a:chOff x="0" y="0"/>
            <a:chExt cx="716623" cy="7166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05840" y="7991856"/>
            <a:ext cx="512064" cy="512064"/>
            <a:chOff x="0" y="0"/>
            <a:chExt cx="68275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73936" y="7991856"/>
            <a:ext cx="6217920" cy="493776"/>
            <a:chOff x="0" y="0"/>
            <a:chExt cx="8290560" cy="6583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90560" cy="658368"/>
            </a:xfrm>
            <a:custGeom>
              <a:avLst/>
              <a:gdLst/>
              <a:ahLst/>
              <a:cxnLst/>
              <a:rect r="r" b="b" t="t" l="l"/>
              <a:pathLst>
                <a:path h="65836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367" r="0" b="-19536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29056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flow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73936" y="8485632"/>
            <a:ext cx="6217920" cy="731520"/>
            <a:chOff x="0" y="0"/>
            <a:chExt cx="829056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90560" cy="975360"/>
            </a:xfrm>
            <a:custGeom>
              <a:avLst/>
              <a:gdLst/>
              <a:ahLst/>
              <a:cxnLst/>
              <a:rect r="r" b="b" t="t" l="l"/>
              <a:pathLst>
                <a:path h="9753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2905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Embed query → cosine nearest-neighbour → return top-k chunks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869680" y="2633472"/>
            <a:ext cx="8778240" cy="548640"/>
            <a:chOff x="0" y="0"/>
            <a:chExt cx="117043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7043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1704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Collection initialisation: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674103" y="3224279"/>
            <a:ext cx="9077963" cy="6279899"/>
            <a:chOff x="0" y="0"/>
            <a:chExt cx="12103951" cy="837319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2070081" cy="8339328"/>
            </a:xfrm>
            <a:custGeom>
              <a:avLst/>
              <a:gdLst/>
              <a:ahLst/>
              <a:cxnLst/>
              <a:rect r="r" b="b" t="t" l="l"/>
              <a:pathLst>
                <a:path h="8339328" w="12070081">
                  <a:moveTo>
                    <a:pt x="0" y="0"/>
                  </a:moveTo>
                  <a:lnTo>
                    <a:pt x="12070081" y="0"/>
                  </a:lnTo>
                  <a:lnTo>
                    <a:pt x="12070081" y="8339328"/>
                  </a:lnTo>
                  <a:lnTo>
                    <a:pt x="0" y="833932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103862" cy="8373110"/>
            </a:xfrm>
            <a:custGeom>
              <a:avLst/>
              <a:gdLst/>
              <a:ahLst/>
              <a:cxnLst/>
              <a:rect r="r" b="b" t="t" l="l"/>
              <a:pathLst>
                <a:path h="8373110" w="12103862">
                  <a:moveTo>
                    <a:pt x="16891" y="0"/>
                  </a:moveTo>
                  <a:lnTo>
                    <a:pt x="12086972" y="0"/>
                  </a:lnTo>
                  <a:cubicBezTo>
                    <a:pt x="12096369" y="0"/>
                    <a:pt x="12103862" y="7620"/>
                    <a:pt x="12103862" y="16891"/>
                  </a:cubicBezTo>
                  <a:lnTo>
                    <a:pt x="12103862" y="8356219"/>
                  </a:lnTo>
                  <a:cubicBezTo>
                    <a:pt x="12103862" y="8365617"/>
                    <a:pt x="12096242" y="8373110"/>
                    <a:pt x="12086972" y="8373110"/>
                  </a:cubicBezTo>
                  <a:lnTo>
                    <a:pt x="16891" y="8373110"/>
                  </a:lnTo>
                  <a:cubicBezTo>
                    <a:pt x="7493" y="8373110"/>
                    <a:pt x="0" y="8365489"/>
                    <a:pt x="0" y="83562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356219"/>
                  </a:lnTo>
                  <a:lnTo>
                    <a:pt x="16891" y="8356219"/>
                  </a:lnTo>
                  <a:lnTo>
                    <a:pt x="16891" y="8339327"/>
                  </a:lnTo>
                  <a:lnTo>
                    <a:pt x="12086972" y="8339327"/>
                  </a:lnTo>
                  <a:lnTo>
                    <a:pt x="12086972" y="8356219"/>
                  </a:lnTo>
                  <a:lnTo>
                    <a:pt x="12070080" y="8356219"/>
                  </a:lnTo>
                  <a:lnTo>
                    <a:pt x="12070080" y="16891"/>
                  </a:lnTo>
                  <a:lnTo>
                    <a:pt x="12086972" y="16891"/>
                  </a:lnTo>
                  <a:lnTo>
                    <a:pt x="12086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9052560" y="3840099"/>
            <a:ext cx="8412480" cy="488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client = chromadb.PersistentClient(path="./rag_db")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def fresh_collection(name):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try: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client.delete_collection(name)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except Exception: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pass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client.create_collection(name)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col_minilm = fresh_collection("col_minilm")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col_mpnet  = fresh_collection("col_mpnet")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col_minilm.add(documents=text_lines, embeddings=embs1, ids=ids)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col_mpnet.add( documents=text_lines, embeddings=embs2, ids=ids)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 — Integration with Hugging Face LLMs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914400"/>
            <a:chOff x="0" y="0"/>
            <a:chExt cx="2243328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Two instruction-tuned seq2seq models are loaded locally. Both use the same wrapper function so they are fully interchangeable within the pipeline.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48640" y="2523744"/>
          <a:ext cx="17170400" cy="2667000"/>
        </p:xfrm>
        <a:graphic>
          <a:graphicData uri="http://schemas.openxmlformats.org/drawingml/2006/table">
            <a:tbl>
              <a:tblPr/>
              <a:tblGrid>
                <a:gridCol w="5104866"/>
                <a:gridCol w="2465002"/>
                <a:gridCol w="4495666"/>
                <a:gridCol w="5104866"/>
              </a:tblGrid>
              <a:tr h="6903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Size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Avg Gen Time (CPU)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Answer Quality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9883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google/flan-t5-base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~250 MB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7D3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2.5 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546E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Short, often incomplete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83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google/flan-t5-large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~800 MB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E651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153.5 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E7D3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Detailed, contextually accurate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731520" y="5632704"/>
            <a:ext cx="16459200" cy="548640"/>
            <a:chOff x="0" y="0"/>
            <a:chExt cx="21945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 loader — identical interface for both models: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5943" y="6241799"/>
            <a:ext cx="17216123" cy="3719579"/>
            <a:chOff x="0" y="0"/>
            <a:chExt cx="22954831" cy="49594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22920960" cy="4925568"/>
            </a:xfrm>
            <a:custGeom>
              <a:avLst/>
              <a:gdLst/>
              <a:ahLst/>
              <a:cxnLst/>
              <a:rect r="r" b="b" t="t" l="l"/>
              <a:pathLst>
                <a:path h="492556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4925568"/>
                  </a:lnTo>
                  <a:lnTo>
                    <a:pt x="0" y="492556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54743" cy="4959350"/>
            </a:xfrm>
            <a:custGeom>
              <a:avLst/>
              <a:gdLst/>
              <a:ahLst/>
              <a:cxnLst/>
              <a:rect r="r" b="b" t="t" l="l"/>
              <a:pathLst>
                <a:path h="495935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4942459"/>
                  </a:lnTo>
                  <a:cubicBezTo>
                    <a:pt x="22954743" y="4951857"/>
                    <a:pt x="22947123" y="4959350"/>
                    <a:pt x="22937851" y="4959350"/>
                  </a:cubicBezTo>
                  <a:lnTo>
                    <a:pt x="16891" y="4959350"/>
                  </a:lnTo>
                  <a:cubicBezTo>
                    <a:pt x="7493" y="4959350"/>
                    <a:pt x="0" y="4951730"/>
                    <a:pt x="0" y="49424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942459"/>
                  </a:lnTo>
                  <a:lnTo>
                    <a:pt x="16891" y="4942459"/>
                  </a:lnTo>
                  <a:lnTo>
                    <a:pt x="16891" y="4925568"/>
                  </a:lnTo>
                  <a:lnTo>
                    <a:pt x="22937851" y="4925568"/>
                  </a:lnTo>
                  <a:lnTo>
                    <a:pt x="22937851" y="4942459"/>
                  </a:lnTo>
                  <a:lnTo>
                    <a:pt x="22920961" y="494245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05840" y="6400419"/>
            <a:ext cx="16459200" cy="309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def load_flan_t5(model_name):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tokenizer = AutoTokenizer.from_pretrained(model_name)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model = AutoModelForSeq2SeqLM.from_pretrained(model_name)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def generate(prompt, max_new_tokens=256):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inputs = tokenizer(prompt, return_tensors="pt", truncation=True, max_length=512)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with torch.no_grad():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outputs = model.generate(**inputs, max_new_tokens=max_new_tokens)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[{"generated_text": tokenizer.decode(outputs[0], skip_special_tokens=True)}]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generate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5 — Prompt Engineering: Three Templates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914400"/>
            <a:chOff x="0" y="0"/>
            <a:chExt cx="2243328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Prompt design significantly affects answer quality. Three framing strategies are tested to measure how instruction style influences LLM output quality and generation time.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511047"/>
            <a:ext cx="5658107" cy="720347"/>
            <a:chOff x="0" y="0"/>
            <a:chExt cx="7544143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10272" cy="926592"/>
            </a:xfrm>
            <a:custGeom>
              <a:avLst/>
              <a:gdLst/>
              <a:ahLst/>
              <a:cxnLst/>
              <a:rect r="r" b="b" t="t" l="l"/>
              <a:pathLst>
                <a:path h="9265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44054" cy="960376"/>
            </a:xfrm>
            <a:custGeom>
              <a:avLst/>
              <a:gdLst/>
              <a:ahLst/>
              <a:cxnLst/>
              <a:rect r="r" b="b" t="t" l="l"/>
              <a:pathLst>
                <a:path h="960376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943483"/>
                  </a:lnTo>
                  <a:cubicBezTo>
                    <a:pt x="7544054" y="952881"/>
                    <a:pt x="7536434" y="960374"/>
                    <a:pt x="752716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27163" y="926592"/>
                  </a:lnTo>
                  <a:lnTo>
                    <a:pt x="7527163" y="943483"/>
                  </a:lnTo>
                  <a:lnTo>
                    <a:pt x="7510272" y="9434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523744"/>
            <a:ext cx="5632704" cy="694944"/>
            <a:chOff x="0" y="0"/>
            <a:chExt cx="7510272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10272" cy="926592"/>
            </a:xfrm>
            <a:custGeom>
              <a:avLst/>
              <a:gdLst/>
              <a:ahLst/>
              <a:cxnLst/>
              <a:rect r="r" b="b" t="t" l="l"/>
              <a:pathLst>
                <a:path h="9265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31" r="0" b="-10793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51027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Basic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3205991"/>
            <a:ext cx="5658107" cy="1525019"/>
            <a:chOff x="0" y="0"/>
            <a:chExt cx="7544143" cy="20333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510272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44054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016379"/>
                  </a:lnTo>
                  <a:cubicBezTo>
                    <a:pt x="7544054" y="2025777"/>
                    <a:pt x="7536434" y="2033270"/>
                    <a:pt x="7527163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27163" y="1999488"/>
                  </a:lnTo>
                  <a:lnTo>
                    <a:pt x="7527163" y="2016379"/>
                  </a:lnTo>
                  <a:lnTo>
                    <a:pt x="7510272" y="2016379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3273552"/>
            <a:ext cx="5266944" cy="1353312"/>
            <a:chOff x="0" y="0"/>
            <a:chExt cx="7022592" cy="18044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2592" cy="1804416"/>
            </a:xfrm>
            <a:custGeom>
              <a:avLst/>
              <a:gdLst/>
              <a:ahLst/>
              <a:cxnLst/>
              <a:rect r="r" b="b" t="t" l="l"/>
              <a:pathLst>
                <a:path h="1804416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33" r="0" b="-258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022592" cy="1852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Minimal framing. Can cause the model to go off-topic when context is ambiguous. Fastest (57.2 s avg).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5943" y="4742183"/>
            <a:ext cx="5658107" cy="5182619"/>
            <a:chOff x="0" y="0"/>
            <a:chExt cx="7544143" cy="69101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510272" cy="6876288"/>
            </a:xfrm>
            <a:custGeom>
              <a:avLst/>
              <a:gdLst/>
              <a:ahLst/>
              <a:cxnLst/>
              <a:rect r="r" b="b" t="t" l="l"/>
              <a:pathLst>
                <a:path h="687628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76288"/>
                  </a:lnTo>
                  <a:lnTo>
                    <a:pt x="0" y="687628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44054" cy="6910070"/>
            </a:xfrm>
            <a:custGeom>
              <a:avLst/>
              <a:gdLst/>
              <a:ahLst/>
              <a:cxnLst/>
              <a:rect r="r" b="b" t="t" l="l"/>
              <a:pathLst>
                <a:path h="6910070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6893179"/>
                  </a:lnTo>
                  <a:cubicBezTo>
                    <a:pt x="7544054" y="6902577"/>
                    <a:pt x="7536434" y="6910070"/>
                    <a:pt x="7527163" y="6910070"/>
                  </a:cubicBezTo>
                  <a:lnTo>
                    <a:pt x="16891" y="6910070"/>
                  </a:lnTo>
                  <a:cubicBezTo>
                    <a:pt x="7493" y="6910070"/>
                    <a:pt x="0" y="6902450"/>
                    <a:pt x="0" y="6893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93179"/>
                  </a:lnTo>
                  <a:lnTo>
                    <a:pt x="16891" y="6893179"/>
                  </a:lnTo>
                  <a:lnTo>
                    <a:pt x="16891" y="6876288"/>
                  </a:lnTo>
                  <a:lnTo>
                    <a:pt x="7527163" y="6876288"/>
                  </a:lnTo>
                  <a:lnTo>
                    <a:pt x="7527163" y="6893179"/>
                  </a:lnTo>
                  <a:lnTo>
                    <a:pt x="7510272" y="6893179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31520" y="4863846"/>
            <a:ext cx="5266944" cy="310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PROMPT_BASIC = (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"Answer the question using only the context below.\n\n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"the context below.\n\n"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"Context: {context}\n\n"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"Question: {question}\nAnswer:"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424679" y="2511047"/>
            <a:ext cx="5658107" cy="720347"/>
            <a:chOff x="0" y="0"/>
            <a:chExt cx="7544143" cy="9604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510272" cy="926592"/>
            </a:xfrm>
            <a:custGeom>
              <a:avLst/>
              <a:gdLst/>
              <a:ahLst/>
              <a:cxnLst/>
              <a:rect r="r" b="b" t="t" l="l"/>
              <a:pathLst>
                <a:path h="9265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44054" cy="960376"/>
            </a:xfrm>
            <a:custGeom>
              <a:avLst/>
              <a:gdLst/>
              <a:ahLst/>
              <a:cxnLst/>
              <a:rect r="r" b="b" t="t" l="l"/>
              <a:pathLst>
                <a:path h="960376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943483"/>
                  </a:lnTo>
                  <a:cubicBezTo>
                    <a:pt x="7544054" y="952881"/>
                    <a:pt x="7536434" y="960374"/>
                    <a:pt x="752716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27163" y="926592"/>
                  </a:lnTo>
                  <a:lnTo>
                    <a:pt x="7527163" y="943483"/>
                  </a:lnTo>
                  <a:lnTo>
                    <a:pt x="7510272" y="9434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437376" y="2523744"/>
            <a:ext cx="5632704" cy="694944"/>
            <a:chOff x="0" y="0"/>
            <a:chExt cx="7510272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10272" cy="926592"/>
            </a:xfrm>
            <a:custGeom>
              <a:avLst/>
              <a:gdLst/>
              <a:ahLst/>
              <a:cxnLst/>
              <a:rect r="r" b="b" t="t" l="l"/>
              <a:pathLst>
                <a:path h="9265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31" r="0" b="-10793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51027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XML Tags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24679" y="3205991"/>
            <a:ext cx="5658107" cy="1525019"/>
            <a:chOff x="0" y="0"/>
            <a:chExt cx="7544143" cy="20333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7510272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544054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016379"/>
                  </a:lnTo>
                  <a:cubicBezTo>
                    <a:pt x="7544054" y="2025777"/>
                    <a:pt x="7536434" y="2033270"/>
                    <a:pt x="7527163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27163" y="1999488"/>
                  </a:lnTo>
                  <a:lnTo>
                    <a:pt x="7527163" y="2016379"/>
                  </a:lnTo>
                  <a:lnTo>
                    <a:pt x="7510272" y="2016379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20256" y="3273552"/>
            <a:ext cx="5266944" cy="1353312"/>
            <a:chOff x="0" y="0"/>
            <a:chExt cx="7022592" cy="18044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22592" cy="1804416"/>
            </a:xfrm>
            <a:custGeom>
              <a:avLst/>
              <a:gdLst/>
              <a:ahLst/>
              <a:cxnLst/>
              <a:rect r="r" b="b" t="t" l="l"/>
              <a:pathLst>
                <a:path h="1804416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33" r="0" b="-2583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022592" cy="1852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&lt;context&gt;/&lt;question&gt; tags. Cleaner parsing, especially for larger contexts. Moderate latency (74.0 s avg).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424679" y="4742183"/>
            <a:ext cx="5658107" cy="5182619"/>
            <a:chOff x="0" y="0"/>
            <a:chExt cx="7544143" cy="69101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510272" cy="6876288"/>
            </a:xfrm>
            <a:custGeom>
              <a:avLst/>
              <a:gdLst/>
              <a:ahLst/>
              <a:cxnLst/>
              <a:rect r="r" b="b" t="t" l="l"/>
              <a:pathLst>
                <a:path h="687628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76288"/>
                  </a:lnTo>
                  <a:lnTo>
                    <a:pt x="0" y="687628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44054" cy="6910070"/>
            </a:xfrm>
            <a:custGeom>
              <a:avLst/>
              <a:gdLst/>
              <a:ahLst/>
              <a:cxnLst/>
              <a:rect r="r" b="b" t="t" l="l"/>
              <a:pathLst>
                <a:path h="6910070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6893179"/>
                  </a:lnTo>
                  <a:cubicBezTo>
                    <a:pt x="7544054" y="6902577"/>
                    <a:pt x="7536434" y="6910070"/>
                    <a:pt x="7527163" y="6910070"/>
                  </a:cubicBezTo>
                  <a:lnTo>
                    <a:pt x="16891" y="6910070"/>
                  </a:lnTo>
                  <a:cubicBezTo>
                    <a:pt x="7493" y="6910070"/>
                    <a:pt x="0" y="6902450"/>
                    <a:pt x="0" y="6893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93179"/>
                  </a:lnTo>
                  <a:lnTo>
                    <a:pt x="16891" y="6893179"/>
                  </a:lnTo>
                  <a:lnTo>
                    <a:pt x="16891" y="6876288"/>
                  </a:lnTo>
                  <a:lnTo>
                    <a:pt x="7527163" y="6876288"/>
                  </a:lnTo>
                  <a:lnTo>
                    <a:pt x="7527163" y="6893179"/>
                  </a:lnTo>
                  <a:lnTo>
                    <a:pt x="7510272" y="6893179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620256" y="4863846"/>
            <a:ext cx="5266944" cy="447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PROMPT_XML = (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"Use the information enclosed in &lt;context&gt; tags to provide an answer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the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"question enclosed in &lt;question&gt; tags.\n"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"&lt;context&gt;\n{context}\n&lt;/context&gt;\n"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"&lt;question&gt;\n{question}\n&lt;/question&gt;"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313415" y="2511047"/>
            <a:ext cx="5658107" cy="720347"/>
            <a:chOff x="0" y="0"/>
            <a:chExt cx="7544143" cy="9604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7510272" cy="926592"/>
            </a:xfrm>
            <a:custGeom>
              <a:avLst/>
              <a:gdLst/>
              <a:ahLst/>
              <a:cxnLst/>
              <a:rect r="r" b="b" t="t" l="l"/>
              <a:pathLst>
                <a:path h="9265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B5E2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44054" cy="960376"/>
            </a:xfrm>
            <a:custGeom>
              <a:avLst/>
              <a:gdLst/>
              <a:ahLst/>
              <a:cxnLst/>
              <a:rect r="r" b="b" t="t" l="l"/>
              <a:pathLst>
                <a:path h="960376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943483"/>
                  </a:lnTo>
                  <a:cubicBezTo>
                    <a:pt x="7544054" y="952881"/>
                    <a:pt x="7536434" y="960374"/>
                    <a:pt x="752716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527163" y="926592"/>
                  </a:lnTo>
                  <a:lnTo>
                    <a:pt x="7527163" y="943483"/>
                  </a:lnTo>
                  <a:lnTo>
                    <a:pt x="7510272" y="943483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5E2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326112" y="2523744"/>
            <a:ext cx="5632704" cy="694944"/>
            <a:chOff x="0" y="0"/>
            <a:chExt cx="7510272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510272" cy="926592"/>
            </a:xfrm>
            <a:custGeom>
              <a:avLst/>
              <a:gdLst/>
              <a:ahLst/>
              <a:cxnLst/>
              <a:rect r="r" b="b" t="t" l="l"/>
              <a:pathLst>
                <a:path h="926592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31" r="0" b="-10793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751027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13415" y="3205991"/>
            <a:ext cx="5658107" cy="1525019"/>
            <a:chOff x="0" y="0"/>
            <a:chExt cx="7544143" cy="20333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7510272" cy="1999488"/>
            </a:xfrm>
            <a:custGeom>
              <a:avLst/>
              <a:gdLst/>
              <a:ahLst/>
              <a:cxnLst/>
              <a:rect r="r" b="b" t="t" l="l"/>
              <a:pathLst>
                <a:path h="199948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8FA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44054" cy="2033270"/>
            </a:xfrm>
            <a:custGeom>
              <a:avLst/>
              <a:gdLst/>
              <a:ahLst/>
              <a:cxnLst/>
              <a:rect r="r" b="b" t="t" l="l"/>
              <a:pathLst>
                <a:path h="2033270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2016379"/>
                  </a:lnTo>
                  <a:cubicBezTo>
                    <a:pt x="7544054" y="2025777"/>
                    <a:pt x="7536434" y="2033270"/>
                    <a:pt x="7527163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7527163" y="1999488"/>
                  </a:lnTo>
                  <a:lnTo>
                    <a:pt x="7527163" y="2016379"/>
                  </a:lnTo>
                  <a:lnTo>
                    <a:pt x="7510272" y="2016379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08992" y="3273552"/>
            <a:ext cx="5266944" cy="1353312"/>
            <a:chOff x="0" y="0"/>
            <a:chExt cx="7022592" cy="18044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22592" cy="1804416"/>
            </a:xfrm>
            <a:custGeom>
              <a:avLst/>
              <a:gdLst/>
              <a:ahLst/>
              <a:cxnLst/>
              <a:rect r="r" b="b" t="t" l="l"/>
              <a:pathLst>
                <a:path h="1804416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33" r="0" b="-2583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7022592" cy="1852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Role-based — frames LLM as a policy expert. Most precise answers but longest generation (102.8 s avg).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13415" y="4742183"/>
            <a:ext cx="5658107" cy="5182619"/>
            <a:chOff x="0" y="0"/>
            <a:chExt cx="7544143" cy="691015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7510272" cy="6876288"/>
            </a:xfrm>
            <a:custGeom>
              <a:avLst/>
              <a:gdLst/>
              <a:ahLst/>
              <a:cxnLst/>
              <a:rect r="r" b="b" t="t" l="l"/>
              <a:pathLst>
                <a:path h="6876288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6876288"/>
                  </a:lnTo>
                  <a:lnTo>
                    <a:pt x="0" y="687628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44054" cy="6910070"/>
            </a:xfrm>
            <a:custGeom>
              <a:avLst/>
              <a:gdLst/>
              <a:ahLst/>
              <a:cxnLst/>
              <a:rect r="r" b="b" t="t" l="l"/>
              <a:pathLst>
                <a:path h="6910070" w="7544054">
                  <a:moveTo>
                    <a:pt x="16891" y="0"/>
                  </a:moveTo>
                  <a:lnTo>
                    <a:pt x="7527163" y="0"/>
                  </a:lnTo>
                  <a:cubicBezTo>
                    <a:pt x="7536561" y="0"/>
                    <a:pt x="7544054" y="7620"/>
                    <a:pt x="7544054" y="16891"/>
                  </a:cubicBezTo>
                  <a:lnTo>
                    <a:pt x="7544054" y="6893179"/>
                  </a:lnTo>
                  <a:cubicBezTo>
                    <a:pt x="7544054" y="6902577"/>
                    <a:pt x="7536434" y="6910070"/>
                    <a:pt x="7527163" y="6910070"/>
                  </a:cubicBezTo>
                  <a:lnTo>
                    <a:pt x="16891" y="6910070"/>
                  </a:lnTo>
                  <a:cubicBezTo>
                    <a:pt x="7493" y="6910070"/>
                    <a:pt x="0" y="6902450"/>
                    <a:pt x="0" y="6893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93179"/>
                  </a:lnTo>
                  <a:lnTo>
                    <a:pt x="16891" y="6893179"/>
                  </a:lnTo>
                  <a:lnTo>
                    <a:pt x="16891" y="6876288"/>
                  </a:lnTo>
                  <a:lnTo>
                    <a:pt x="7527163" y="6876288"/>
                  </a:lnTo>
                  <a:lnTo>
                    <a:pt x="7527163" y="6893179"/>
                  </a:lnTo>
                  <a:lnTo>
                    <a:pt x="7510272" y="6893179"/>
                  </a:lnTo>
                  <a:lnTo>
                    <a:pt x="7510272" y="16891"/>
                  </a:lnTo>
                  <a:lnTo>
                    <a:pt x="7527163" y="16891"/>
                  </a:lnTo>
                  <a:lnTo>
                    <a:pt x="75271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2508992" y="4863846"/>
            <a:ext cx="5266944" cy="379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PROMPT_EXPERT = (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"You are an AI policy expert.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Using only the provided context,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give a precise 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"and factual answer.\n\n"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"Context:\n{context}\n\n"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"Question: {question}\n\n"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"Answer (based strictly on the context above):"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  <a:r>
              <a:rPr lang="en-US" sz="2259" strike="noStrike" u="none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algn="l" marL="0" indent="0" lvl="0">
              <a:lnSpc>
                <a:spcPts val="2711"/>
              </a:lnSpc>
              <a:spcBef>
                <a:spcPct val="0"/>
              </a:spcBef>
            </a:pPr>
          </a:p>
        </p:txBody>
      </p:sp>
      <p:grpSp>
        <p:nvGrpSpPr>
          <p:cNvPr name="Group 59" id="59"/>
          <p:cNvGrpSpPr/>
          <p:nvPr/>
        </p:nvGrpSpPr>
        <p:grpSpPr>
          <a:xfrm rot="0">
            <a:off x="535943" y="9734807"/>
            <a:ext cx="17216123" cy="391163"/>
            <a:chOff x="0" y="0"/>
            <a:chExt cx="22954831" cy="5215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920960" cy="487680"/>
            </a:xfrm>
            <a:custGeom>
              <a:avLst/>
              <a:gdLst/>
              <a:ahLst/>
              <a:cxnLst/>
              <a:rect r="r" b="b" t="t" l="l"/>
              <a:pathLst>
                <a:path h="48768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FF8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954743" cy="521464"/>
            </a:xfrm>
            <a:custGeom>
              <a:avLst/>
              <a:gdLst/>
              <a:ahLst/>
              <a:cxnLst/>
              <a:rect r="r" b="b" t="t" l="l"/>
              <a:pathLst>
                <a:path h="52146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504571"/>
                  </a:lnTo>
                  <a:cubicBezTo>
                    <a:pt x="22954743" y="513969"/>
                    <a:pt x="22947123" y="521462"/>
                    <a:pt x="2293785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22937851" y="487680"/>
                  </a:lnTo>
                  <a:lnTo>
                    <a:pt x="22937851" y="504571"/>
                  </a:lnTo>
                  <a:lnTo>
                    <a:pt x="22920961" y="50457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31520" y="9747504"/>
            <a:ext cx="16824960" cy="365760"/>
            <a:chOff x="0" y="0"/>
            <a:chExt cx="2243328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433280" cy="487680"/>
            </a:xfrm>
            <a:custGeom>
              <a:avLst/>
              <a:gdLst/>
              <a:ahLst/>
              <a:cxnLst/>
              <a:rect r="r" b="b" t="t" l="l"/>
              <a:pathLst>
                <a:path h="4876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311" r="0" b="-84631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2433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generation latency (flan-t5-large, CPU):   Basic: 57.2 s     XML Tags: 74.0 s     Expert: 102.8 s   — Expert writes longer, richer answers.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6 — End-to-End RAG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914400"/>
            <a:chOff x="0" y="0"/>
            <a:chExt cx="2243328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The rag( ) function ties every component together and measures retrieval and generation latency independently, enabling fine-grained benchmarking of all configurations.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511047"/>
            <a:ext cx="10083803" cy="7340603"/>
            <a:chOff x="0" y="0"/>
            <a:chExt cx="13445071" cy="978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411199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44982" cy="9787382"/>
            </a:xfrm>
            <a:custGeom>
              <a:avLst/>
              <a:gdLst/>
              <a:ahLst/>
              <a:cxnLst/>
              <a:rect r="r" b="b" t="t" l="l"/>
              <a:pathLst>
                <a:path h="9787382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770491"/>
                  </a:lnTo>
                  <a:cubicBezTo>
                    <a:pt x="13444982" y="9779889"/>
                    <a:pt x="13437363" y="9787382"/>
                    <a:pt x="13428090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3428090" y="9753600"/>
                  </a:lnTo>
                  <a:lnTo>
                    <a:pt x="13428090" y="9770491"/>
                  </a:lnTo>
                  <a:lnTo>
                    <a:pt x="13411200" y="9770491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51543" y="2821943"/>
            <a:ext cx="6700523" cy="1525019"/>
            <a:chOff x="0" y="0"/>
            <a:chExt cx="8934031" cy="20333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89001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3394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7620"/>
                    <a:pt x="8933942" y="16891"/>
                  </a:cubicBezTo>
                  <a:lnTo>
                    <a:pt x="8933942" y="2016379"/>
                  </a:lnTo>
                  <a:cubicBezTo>
                    <a:pt x="8933942" y="2025777"/>
                    <a:pt x="8926322" y="2033270"/>
                    <a:pt x="89170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917051" y="1999488"/>
                  </a:lnTo>
                  <a:lnTo>
                    <a:pt x="8917051" y="2016379"/>
                  </a:lnTo>
                  <a:lnTo>
                    <a:pt x="8900160" y="2016379"/>
                  </a:lnTo>
                  <a:lnTo>
                    <a:pt x="8900160" y="16891"/>
                  </a:lnTo>
                  <a:lnTo>
                    <a:pt x="8917051" y="16891"/>
                  </a:lnTo>
                  <a:lnTo>
                    <a:pt x="8917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051543" y="2821943"/>
            <a:ext cx="153419" cy="1525019"/>
            <a:chOff x="0" y="0"/>
            <a:chExt cx="204559" cy="20333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706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470" cy="2033270"/>
            </a:xfrm>
            <a:custGeom>
              <a:avLst/>
              <a:gdLst/>
              <a:ahLst/>
              <a:cxnLst/>
              <a:rect r="r" b="b" t="t" l="l"/>
              <a:pathLst>
                <a:path h="20332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16379"/>
                  </a:lnTo>
                  <a:cubicBezTo>
                    <a:pt x="204470" y="2025777"/>
                    <a:pt x="196850" y="2033270"/>
                    <a:pt x="187579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87579" y="1999488"/>
                  </a:lnTo>
                  <a:lnTo>
                    <a:pt x="187579" y="2016379"/>
                  </a:lnTo>
                  <a:lnTo>
                    <a:pt x="170688" y="20163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66576" y="2944368"/>
            <a:ext cx="5998464" cy="512064"/>
            <a:chOff x="0" y="0"/>
            <a:chExt cx="799795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9979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Retrieval timing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66576" y="3511296"/>
            <a:ext cx="5998464" cy="731520"/>
            <a:chOff x="0" y="0"/>
            <a:chExt cx="7997952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97952" cy="975360"/>
            </a:xfrm>
            <a:custGeom>
              <a:avLst/>
              <a:gdLst/>
              <a:ahLst/>
              <a:cxnLst/>
              <a:rect r="r" b="b" t="t" l="l"/>
              <a:pathLst>
                <a:path h="975360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997952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Clocks embedding of query + ChromaDB nearest-neighbour search together.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51543" y="4650743"/>
            <a:ext cx="6700523" cy="1525019"/>
            <a:chOff x="0" y="0"/>
            <a:chExt cx="8934031" cy="20333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89001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3394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7620"/>
                    <a:pt x="8933942" y="16891"/>
                  </a:cubicBezTo>
                  <a:lnTo>
                    <a:pt x="8933942" y="2016379"/>
                  </a:lnTo>
                  <a:cubicBezTo>
                    <a:pt x="8933942" y="2025777"/>
                    <a:pt x="8926322" y="2033270"/>
                    <a:pt x="89170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917051" y="1999488"/>
                  </a:lnTo>
                  <a:lnTo>
                    <a:pt x="8917051" y="2016379"/>
                  </a:lnTo>
                  <a:lnTo>
                    <a:pt x="8900160" y="2016379"/>
                  </a:lnTo>
                  <a:lnTo>
                    <a:pt x="8900160" y="16891"/>
                  </a:lnTo>
                  <a:lnTo>
                    <a:pt x="8917051" y="16891"/>
                  </a:lnTo>
                  <a:lnTo>
                    <a:pt x="8917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051543" y="4650743"/>
            <a:ext cx="153419" cy="1525019"/>
            <a:chOff x="0" y="0"/>
            <a:chExt cx="204559" cy="20333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470" cy="2033270"/>
            </a:xfrm>
            <a:custGeom>
              <a:avLst/>
              <a:gdLst/>
              <a:ahLst/>
              <a:cxnLst/>
              <a:rect r="r" b="b" t="t" l="l"/>
              <a:pathLst>
                <a:path h="20332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16379"/>
                  </a:lnTo>
                  <a:cubicBezTo>
                    <a:pt x="204470" y="2025777"/>
                    <a:pt x="196850" y="2033270"/>
                    <a:pt x="187579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87579" y="1999488"/>
                  </a:lnTo>
                  <a:lnTo>
                    <a:pt x="187579" y="2016379"/>
                  </a:lnTo>
                  <a:lnTo>
                    <a:pt x="170688" y="20163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66576" y="4773168"/>
            <a:ext cx="5998464" cy="512064"/>
            <a:chOff x="0" y="0"/>
            <a:chExt cx="7997952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9979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assembly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66576" y="5340096"/>
            <a:ext cx="5998464" cy="731520"/>
            <a:chOff x="0" y="0"/>
            <a:chExt cx="7997952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97952" cy="975360"/>
            </a:xfrm>
            <a:custGeom>
              <a:avLst/>
              <a:gdLst/>
              <a:ahLst/>
              <a:cxnLst/>
              <a:rect r="r" b="b" t="t" l="l"/>
              <a:pathLst>
                <a:path h="975360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997952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Top-k chunks joined with double newlines — readable passage for the LLM.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051543" y="6479543"/>
            <a:ext cx="6700523" cy="1525019"/>
            <a:chOff x="0" y="0"/>
            <a:chExt cx="8934031" cy="20333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89001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93394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7620"/>
                    <a:pt x="8933942" y="16891"/>
                  </a:cubicBezTo>
                  <a:lnTo>
                    <a:pt x="8933942" y="2016379"/>
                  </a:lnTo>
                  <a:cubicBezTo>
                    <a:pt x="8933942" y="2025777"/>
                    <a:pt x="8926322" y="2033270"/>
                    <a:pt x="89170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917051" y="1999488"/>
                  </a:lnTo>
                  <a:lnTo>
                    <a:pt x="8917051" y="2016379"/>
                  </a:lnTo>
                  <a:lnTo>
                    <a:pt x="8900160" y="2016379"/>
                  </a:lnTo>
                  <a:lnTo>
                    <a:pt x="8900160" y="16891"/>
                  </a:lnTo>
                  <a:lnTo>
                    <a:pt x="8917051" y="16891"/>
                  </a:lnTo>
                  <a:lnTo>
                    <a:pt x="8917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051543" y="6479543"/>
            <a:ext cx="153419" cy="1525019"/>
            <a:chOff x="0" y="0"/>
            <a:chExt cx="204559" cy="20333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706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4470" cy="2033270"/>
            </a:xfrm>
            <a:custGeom>
              <a:avLst/>
              <a:gdLst/>
              <a:ahLst/>
              <a:cxnLst/>
              <a:rect r="r" b="b" t="t" l="l"/>
              <a:pathLst>
                <a:path h="20332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16379"/>
                  </a:lnTo>
                  <a:cubicBezTo>
                    <a:pt x="204470" y="2025777"/>
                    <a:pt x="196850" y="2033270"/>
                    <a:pt x="187579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87579" y="1999488"/>
                  </a:lnTo>
                  <a:lnTo>
                    <a:pt x="187579" y="2016379"/>
                  </a:lnTo>
                  <a:lnTo>
                    <a:pt x="170688" y="20163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466576" y="6601968"/>
            <a:ext cx="5998464" cy="512064"/>
            <a:chOff x="0" y="0"/>
            <a:chExt cx="7997952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9979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Generation timing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466576" y="7168896"/>
            <a:ext cx="5998464" cy="731520"/>
            <a:chOff x="0" y="0"/>
            <a:chExt cx="7997952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997952" cy="975360"/>
            </a:xfrm>
            <a:custGeom>
              <a:avLst/>
              <a:gdLst/>
              <a:ahLst/>
              <a:cxnLst/>
              <a:rect r="r" b="b" t="t" l="l"/>
              <a:pathLst>
                <a:path h="975360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997952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Clocks only the LLM forward pass, not tokenization or I/O overhead.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051543" y="8308343"/>
            <a:ext cx="6700523" cy="1525019"/>
            <a:chOff x="0" y="0"/>
            <a:chExt cx="8934031" cy="20333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89001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33942" cy="2033270"/>
            </a:xfrm>
            <a:custGeom>
              <a:avLst/>
              <a:gdLst/>
              <a:ahLst/>
              <a:cxnLst/>
              <a:rect r="r" b="b" t="t" l="l"/>
              <a:pathLst>
                <a:path h="2033270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7620"/>
                    <a:pt x="8933942" y="16891"/>
                  </a:cubicBezTo>
                  <a:lnTo>
                    <a:pt x="8933942" y="2016379"/>
                  </a:lnTo>
                  <a:cubicBezTo>
                    <a:pt x="8933942" y="2025777"/>
                    <a:pt x="8926322" y="2033270"/>
                    <a:pt x="89170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8917051" y="1999488"/>
                  </a:lnTo>
                  <a:lnTo>
                    <a:pt x="8917051" y="2016379"/>
                  </a:lnTo>
                  <a:lnTo>
                    <a:pt x="8900160" y="2016379"/>
                  </a:lnTo>
                  <a:lnTo>
                    <a:pt x="8900160" y="16891"/>
                  </a:lnTo>
                  <a:lnTo>
                    <a:pt x="8917051" y="16891"/>
                  </a:lnTo>
                  <a:lnTo>
                    <a:pt x="8917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051543" y="8308343"/>
            <a:ext cx="153419" cy="1525019"/>
            <a:chOff x="0" y="0"/>
            <a:chExt cx="204559" cy="20333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0688" cy="1999488"/>
            </a:xfrm>
            <a:custGeom>
              <a:avLst/>
              <a:gdLst/>
              <a:ahLst/>
              <a:cxnLst/>
              <a:rect r="r" b="b" t="t" l="l"/>
              <a:pathLst>
                <a:path h="19994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4470" cy="2033270"/>
            </a:xfrm>
            <a:custGeom>
              <a:avLst/>
              <a:gdLst/>
              <a:ahLst/>
              <a:cxnLst/>
              <a:rect r="r" b="b" t="t" l="l"/>
              <a:pathLst>
                <a:path h="20332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016379"/>
                  </a:lnTo>
                  <a:cubicBezTo>
                    <a:pt x="204470" y="2025777"/>
                    <a:pt x="196850" y="2033270"/>
                    <a:pt x="187579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87579" y="1999488"/>
                  </a:lnTo>
                  <a:lnTo>
                    <a:pt x="187579" y="2016379"/>
                  </a:lnTo>
                  <a:lnTo>
                    <a:pt x="170688" y="20163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466576" y="8430768"/>
            <a:ext cx="5998464" cy="512064"/>
            <a:chOff x="0" y="0"/>
            <a:chExt cx="7997952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79979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Structured output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66576" y="8997696"/>
            <a:ext cx="5998464" cy="731520"/>
            <a:chOff x="0" y="0"/>
            <a:chExt cx="7997952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997952" cy="975360"/>
            </a:xfrm>
            <a:custGeom>
              <a:avLst/>
              <a:gdLst/>
              <a:ahLst/>
              <a:cxnLst/>
              <a:rect r="r" b="b" t="t" l="l"/>
              <a:pathLst>
                <a:path h="975360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997952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Returns answer + both latencies — the evaluation loop logs every config.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914400" y="2660142"/>
            <a:ext cx="9418320" cy="710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def retrieve(question, collection, emb_model, k=3):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q_emb = embed(emb_model, question)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res = collection.query(query_embeddings=[q_emb], n_results=k)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res["documents"][0]</a:t>
            </a:r>
          </a:p>
          <a:p>
            <a:pPr algn="l">
              <a:lnSpc>
                <a:spcPts val="2328"/>
              </a:lnSpc>
            </a:pP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def rag(question, collection, emb_model, llm, prompt_template, k=3):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t0 = time.time()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docs = retrieve(question, collection, emb_model, k)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t_ret = time.time() - t0     </a:t>
            </a:r>
          </a:p>
          <a:p>
            <a:pPr algn="l">
              <a:lnSpc>
                <a:spcPts val="2328"/>
              </a:lnSpc>
            </a:pP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context = "\n\n".join(docs)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prompt = prompt_template.format(context=context, question=question)</a:t>
            </a:r>
          </a:p>
          <a:p>
            <a:pPr algn="l">
              <a:lnSpc>
                <a:spcPts val="2328"/>
              </a:lnSpc>
            </a:pP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t1 = time.time()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answer = llm(prompt, max_new_tokens=256)[0]["generated_text"]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t_gen = time.time() - t1    </a:t>
            </a:r>
          </a:p>
          <a:p>
            <a:pPr algn="l">
              <a:lnSpc>
                <a:spcPts val="2328"/>
              </a:lnSpc>
            </a:pP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{"answer": answer,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"t_retrieve": round(t_ret, 3),</a:t>
            </a:r>
          </a:p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"t_generate": round(t_gen, 3)}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7 — Evaluation 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510879"/>
            <a:ext cx="16824960" cy="822960"/>
            <a:chOff x="0" y="0"/>
            <a:chExt cx="224332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360" r="0" b="-3483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The evaluation grid: 5 questions × 2 embedding models × 2 LLMs × 3 prompt templates. Charts show latency across retrieval, generation, and prompt dimensions.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0218" y="7633733"/>
            <a:ext cx="5603243" cy="2037083"/>
            <a:chOff x="0" y="0"/>
            <a:chExt cx="7470991" cy="271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437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70901" cy="2716022"/>
            </a:xfrm>
            <a:custGeom>
              <a:avLst/>
              <a:gdLst/>
              <a:ahLst/>
              <a:cxnLst/>
              <a:rect r="r" b="b" t="t" l="l"/>
              <a:pathLst>
                <a:path h="27160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2699131"/>
                  </a:lnTo>
                  <a:cubicBezTo>
                    <a:pt x="7470901" y="2708529"/>
                    <a:pt x="7463282" y="2716022"/>
                    <a:pt x="745401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454011" y="2682240"/>
                  </a:lnTo>
                  <a:lnTo>
                    <a:pt x="7454011" y="2699131"/>
                  </a:lnTo>
                  <a:lnTo>
                    <a:pt x="7437120" y="26991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3098" y="7798325"/>
            <a:ext cx="574043" cy="574043"/>
            <a:chOff x="0" y="0"/>
            <a:chExt cx="765391" cy="765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5795" y="7811022"/>
            <a:ext cx="548640" cy="548640"/>
            <a:chOff x="0" y="0"/>
            <a:chExt cx="7315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7315" y="7701294"/>
            <a:ext cx="4480560" cy="1828800"/>
            <a:chOff x="0" y="0"/>
            <a:chExt cx="5974080" cy="2438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740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97408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MiniLM is faster per query. MPNet returns more semantically relevant chunks for dense legal text.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42378" y="7633733"/>
            <a:ext cx="5603243" cy="2037083"/>
            <a:chOff x="0" y="0"/>
            <a:chExt cx="7470991" cy="2716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437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70901" cy="2716022"/>
            </a:xfrm>
            <a:custGeom>
              <a:avLst/>
              <a:gdLst/>
              <a:ahLst/>
              <a:cxnLst/>
              <a:rect r="r" b="b" t="t" l="l"/>
              <a:pathLst>
                <a:path h="27160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2699131"/>
                  </a:lnTo>
                  <a:cubicBezTo>
                    <a:pt x="7470901" y="2708529"/>
                    <a:pt x="7463282" y="2716022"/>
                    <a:pt x="745401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454011" y="2682240"/>
                  </a:lnTo>
                  <a:lnTo>
                    <a:pt x="7454011" y="2699131"/>
                  </a:lnTo>
                  <a:lnTo>
                    <a:pt x="7437120" y="26991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25258" y="7798325"/>
            <a:ext cx="574043" cy="574043"/>
            <a:chOff x="0" y="0"/>
            <a:chExt cx="765391" cy="765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537955" y="7811022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269475" y="7701294"/>
            <a:ext cx="4480560" cy="1828800"/>
            <a:chOff x="0" y="0"/>
            <a:chExt cx="5974080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740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97408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flan-t5-large is 61× slower than base (153.5 s vs 2.5 s). Quality gain is clear but GPU is essential.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194538" y="7633733"/>
            <a:ext cx="5603243" cy="2037083"/>
            <a:chOff x="0" y="0"/>
            <a:chExt cx="7470991" cy="2716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437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70901" cy="2716022"/>
            </a:xfrm>
            <a:custGeom>
              <a:avLst/>
              <a:gdLst/>
              <a:ahLst/>
              <a:cxnLst/>
              <a:rect r="r" b="b" t="t" l="l"/>
              <a:pathLst>
                <a:path h="27160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2699131"/>
                  </a:lnTo>
                  <a:cubicBezTo>
                    <a:pt x="7470901" y="2708529"/>
                    <a:pt x="7463282" y="2716022"/>
                    <a:pt x="745401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7454011" y="2682240"/>
                  </a:lnTo>
                  <a:lnTo>
                    <a:pt x="7454011" y="2699131"/>
                  </a:lnTo>
                  <a:lnTo>
                    <a:pt x="7437120" y="26991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377418" y="7798325"/>
            <a:ext cx="574043" cy="574043"/>
            <a:chOff x="0" y="0"/>
            <a:chExt cx="765391" cy="7653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B5E2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90115" y="7811022"/>
            <a:ext cx="548640" cy="548640"/>
            <a:chOff x="0" y="0"/>
            <a:chExt cx="731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21635" y="7701294"/>
            <a:ext cx="4480560" cy="1828800"/>
            <a:chOff x="0" y="0"/>
            <a:chExt cx="5974080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740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97408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Expert prompt adds ~80% latency over Basic (102.8 vs 57.2 s) because it generates longer answers.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731520" y="2830938"/>
            <a:ext cx="16527780" cy="4579572"/>
          </a:xfrm>
          <a:custGeom>
            <a:avLst/>
            <a:gdLst/>
            <a:ahLst/>
            <a:cxnLst/>
            <a:rect r="r" b="b" t="t" l="l"/>
            <a:pathLst>
              <a:path h="4579572" w="16527780">
                <a:moveTo>
                  <a:pt x="0" y="0"/>
                </a:moveTo>
                <a:lnTo>
                  <a:pt x="16527780" y="0"/>
                </a:lnTo>
                <a:lnTo>
                  <a:pt x="16527780" y="4579572"/>
                </a:lnTo>
                <a:lnTo>
                  <a:pt x="0" y="457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7 — Parameter Optimisation: Tuning 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1005840"/>
            <a:chOff x="0" y="0"/>
            <a:chExt cx="2243328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After selecting the best embedding model and LLM, we tune k — the number of retrieved chunks. More context improves coverage but increases prompt length and generation time.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48640" y="2633472"/>
          <a:ext cx="17145000" cy="3683000"/>
        </p:xfrm>
        <a:graphic>
          <a:graphicData uri="http://schemas.openxmlformats.org/drawingml/2006/table">
            <a:tbl>
              <a:tblPr/>
              <a:tblGrid>
                <a:gridCol w="2378875"/>
                <a:gridCol w="2922043"/>
                <a:gridCol w="3646267"/>
                <a:gridCol w="5999996"/>
                <a:gridCol w="2197819"/>
              </a:tblGrid>
              <a:tr h="7239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 (chunks)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Retrieval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Generation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Answer Quality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Verdict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986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 = 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~0.07 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E7D3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fastest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651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One-line answers. Misses important context.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E651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Too sparse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6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 = 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~0.09 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E7D3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E7D3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Complete, well-grounded answers consistently.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7D3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Optimal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63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 = 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~0.11 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E651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27% slower than k=3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546E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Marginal quality gain; adds noise and longer prompts.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546E7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Diminishing returns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731520" y="6675120"/>
            <a:ext cx="16459200" cy="548640"/>
            <a:chOff x="0" y="0"/>
            <a:chExt cx="21945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 tuning experiment (MPNet + flan-t5-large + Expert prompt):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5943" y="7265927"/>
            <a:ext cx="17216123" cy="2622299"/>
            <a:chOff x="0" y="0"/>
            <a:chExt cx="22954831" cy="34963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22920960" cy="3462528"/>
            </a:xfrm>
            <a:custGeom>
              <a:avLst/>
              <a:gdLst/>
              <a:ahLst/>
              <a:cxnLst/>
              <a:rect r="r" b="b" t="t" l="l"/>
              <a:pathLst>
                <a:path h="346252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54743" cy="3496310"/>
            </a:xfrm>
            <a:custGeom>
              <a:avLst/>
              <a:gdLst/>
              <a:ahLst/>
              <a:cxnLst/>
              <a:rect r="r" b="b" t="t" l="l"/>
              <a:pathLst>
                <a:path h="349631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3479419"/>
                  </a:lnTo>
                  <a:cubicBezTo>
                    <a:pt x="22954743" y="3488817"/>
                    <a:pt x="22947123" y="3496310"/>
                    <a:pt x="22937851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22937851" y="3462528"/>
                  </a:lnTo>
                  <a:lnTo>
                    <a:pt x="22937851" y="3479419"/>
                  </a:lnTo>
                  <a:lnTo>
                    <a:pt x="22920961" y="347941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7710343"/>
            <a:ext cx="16459200" cy="172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test_q = "What transparency obligations apply to AI systems under the EU AI Act?"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for k in [1, 3, 5]: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r = rag(test_q, col_mpnet, emb_model_2, llm_large, PROMPT_EXPERT, k=k)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print(f"k={k} | t_ret={r['t_retrieve']}s | t_gen={r['t_generate']}s | {r['answer']}")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8 — Gradio Conversational Interface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914400"/>
            <a:chOff x="0" y="0"/>
            <a:chExt cx="2243328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 Gradio web interface exposes the full pipeline to end users. All parameters (embedding model, LLM, prompt style) are configurable at runtime without restarting the notebook.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511047"/>
            <a:ext cx="8163563" cy="1634747"/>
            <a:chOff x="0" y="0"/>
            <a:chExt cx="10884751" cy="2179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850881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84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2162683"/>
                  </a:lnTo>
                  <a:cubicBezTo>
                    <a:pt x="10884662" y="2172081"/>
                    <a:pt x="10877042" y="2179574"/>
                    <a:pt x="10867772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867772" y="2145792"/>
                  </a:lnTo>
                  <a:lnTo>
                    <a:pt x="10867772" y="2162683"/>
                  </a:lnTo>
                  <a:lnTo>
                    <a:pt x="10850880" y="216268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511047"/>
            <a:ext cx="153419" cy="1634747"/>
            <a:chOff x="0" y="0"/>
            <a:chExt cx="204559" cy="2179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" y="2633472"/>
            <a:ext cx="7498080" cy="548640"/>
            <a:chOff x="0" y="0"/>
            <a:chExt cx="99974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&amp; Prompt Selection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" y="3218688"/>
            <a:ext cx="7498080" cy="804672"/>
            <a:chOff x="0" y="0"/>
            <a:chExt cx="9997440" cy="1072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9974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Dropdowns to switch embedding model (MiniLM/MPNet), LLM (base/large), and prompt style at runtime.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22743" y="2511047"/>
            <a:ext cx="8163563" cy="1634747"/>
            <a:chOff x="0" y="0"/>
            <a:chExt cx="10884751" cy="21796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850881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84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2162683"/>
                  </a:lnTo>
                  <a:cubicBezTo>
                    <a:pt x="10884662" y="2172081"/>
                    <a:pt x="10877042" y="2179574"/>
                    <a:pt x="10867772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867772" y="2145792"/>
                  </a:lnTo>
                  <a:lnTo>
                    <a:pt x="10867772" y="2162683"/>
                  </a:lnTo>
                  <a:lnTo>
                    <a:pt x="10850880" y="216268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22743" y="2511047"/>
            <a:ext cx="153419" cy="1634747"/>
            <a:chOff x="0" y="0"/>
            <a:chExt cx="204559" cy="21796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37776" y="2633472"/>
            <a:ext cx="7498080" cy="548640"/>
            <a:chOff x="0" y="0"/>
            <a:chExt cx="999744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Latency Display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37776" y="3218688"/>
            <a:ext cx="7498080" cy="804672"/>
            <a:chOff x="0" y="0"/>
            <a:chExt cx="9997440" cy="10728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9974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Separate text boxes show retrieval and generation latency after each query.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5943" y="4339847"/>
            <a:ext cx="8163563" cy="1634747"/>
            <a:chOff x="0" y="0"/>
            <a:chExt cx="10884751" cy="21796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850881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84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2162683"/>
                  </a:lnTo>
                  <a:cubicBezTo>
                    <a:pt x="10884662" y="2172081"/>
                    <a:pt x="10877042" y="2179574"/>
                    <a:pt x="10867772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867772" y="2145792"/>
                  </a:lnTo>
                  <a:lnTo>
                    <a:pt x="10867772" y="2162683"/>
                  </a:lnTo>
                  <a:lnTo>
                    <a:pt x="10850880" y="216268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5943" y="4339847"/>
            <a:ext cx="153419" cy="1634747"/>
            <a:chOff x="0" y="0"/>
            <a:chExt cx="204559" cy="21796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0976" y="4462272"/>
            <a:ext cx="7498080" cy="548640"/>
            <a:chOff x="0" y="0"/>
            <a:chExt cx="999744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Viewer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0976" y="5047488"/>
            <a:ext cx="7498080" cy="804672"/>
            <a:chOff x="0" y="0"/>
            <a:chExt cx="9997440" cy="1072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9974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Accordion shows exact top-3 chunks from ChromaDB — system is fully transparent.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22743" y="4339847"/>
            <a:ext cx="8163563" cy="1634747"/>
            <a:chOff x="0" y="0"/>
            <a:chExt cx="10884751" cy="217966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850881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84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2162683"/>
                  </a:lnTo>
                  <a:cubicBezTo>
                    <a:pt x="10884662" y="2172081"/>
                    <a:pt x="10877042" y="2179574"/>
                    <a:pt x="10867772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867772" y="2145792"/>
                  </a:lnTo>
                  <a:lnTo>
                    <a:pt x="10867772" y="2162683"/>
                  </a:lnTo>
                  <a:lnTo>
                    <a:pt x="10850880" y="216268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22743" y="4339847"/>
            <a:ext cx="153419" cy="1634747"/>
            <a:chOff x="0" y="0"/>
            <a:chExt cx="204559" cy="21796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37776" y="4462272"/>
            <a:ext cx="7498080" cy="548640"/>
            <a:chOff x="0" y="0"/>
            <a:chExt cx="99974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Conversation History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37776" y="5047488"/>
            <a:ext cx="7498080" cy="804672"/>
            <a:chOff x="0" y="0"/>
            <a:chExt cx="9997440" cy="10728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9974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chat history via gr.Chatbot renders a WhatsApp-style multi-turn dialogue.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5943" y="6168647"/>
            <a:ext cx="8163563" cy="1634747"/>
            <a:chOff x="0" y="0"/>
            <a:chExt cx="10884751" cy="21796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850881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84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2162683"/>
                  </a:lnTo>
                  <a:cubicBezTo>
                    <a:pt x="10884662" y="2172081"/>
                    <a:pt x="10877042" y="2179574"/>
                    <a:pt x="10867772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867772" y="2145792"/>
                  </a:lnTo>
                  <a:lnTo>
                    <a:pt x="10867772" y="2162683"/>
                  </a:lnTo>
                  <a:lnTo>
                    <a:pt x="10850880" y="216268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35943" y="6168647"/>
            <a:ext cx="153419" cy="1634747"/>
            <a:chOff x="0" y="0"/>
            <a:chExt cx="204559" cy="21796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0976" y="6291072"/>
            <a:ext cx="7498080" cy="548640"/>
            <a:chOff x="0" y="0"/>
            <a:chExt cx="999744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 Queries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0976" y="6876288"/>
            <a:ext cx="7498080" cy="804672"/>
            <a:chOff x="0" y="0"/>
            <a:chExt cx="9997440" cy="10728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9974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Clickable examples let new users explore the system immediately.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222743" y="6168647"/>
            <a:ext cx="8163563" cy="1634747"/>
            <a:chOff x="0" y="0"/>
            <a:chExt cx="10884751" cy="217966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850881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884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2162683"/>
                  </a:lnTo>
                  <a:cubicBezTo>
                    <a:pt x="10884662" y="2172081"/>
                    <a:pt x="10877042" y="2179574"/>
                    <a:pt x="10867772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0867772" y="2145792"/>
                  </a:lnTo>
                  <a:lnTo>
                    <a:pt x="10867772" y="2162683"/>
                  </a:lnTo>
                  <a:lnTo>
                    <a:pt x="10850880" y="216268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222743" y="6168647"/>
            <a:ext cx="153419" cy="1634747"/>
            <a:chOff x="0" y="0"/>
            <a:chExt cx="204559" cy="217966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706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4470" cy="2179574"/>
            </a:xfrm>
            <a:custGeom>
              <a:avLst/>
              <a:gdLst/>
              <a:ahLst/>
              <a:cxnLst/>
              <a:rect r="r" b="b" t="t" l="l"/>
              <a:pathLst>
                <a:path h="217957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162683"/>
                  </a:lnTo>
                  <a:cubicBezTo>
                    <a:pt x="204470" y="2172081"/>
                    <a:pt x="196850" y="2179574"/>
                    <a:pt x="187579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87579" y="2145792"/>
                  </a:lnTo>
                  <a:lnTo>
                    <a:pt x="187579" y="2162683"/>
                  </a:lnTo>
                  <a:lnTo>
                    <a:pt x="170688" y="216268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37776" y="6291072"/>
            <a:ext cx="7498080" cy="548640"/>
            <a:chOff x="0" y="0"/>
            <a:chExt cx="999744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Preview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37776" y="6876288"/>
            <a:ext cx="7498080" cy="804672"/>
            <a:chOff x="0" y="0"/>
            <a:chExt cx="9997440" cy="10728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9974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Collapsible accordion shows the active prompt template for educational purposes.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31520" y="8119872"/>
            <a:ext cx="16459200" cy="512064"/>
            <a:chOff x="0" y="0"/>
            <a:chExt cx="2194560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respond() callback: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35943" y="8674103"/>
            <a:ext cx="17216123" cy="1451867"/>
            <a:chOff x="0" y="0"/>
            <a:chExt cx="22954831" cy="193582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229209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954743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918843"/>
                  </a:lnTo>
                  <a:cubicBezTo>
                    <a:pt x="22954743" y="1928241"/>
                    <a:pt x="22947123" y="1935734"/>
                    <a:pt x="229378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2937851" y="1901952"/>
                  </a:lnTo>
                  <a:lnTo>
                    <a:pt x="22937851" y="1918843"/>
                  </a:lnTo>
                  <a:lnTo>
                    <a:pt x="22920961" y="19188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13244"/>
            </a:solid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005840" y="8814435"/>
            <a:ext cx="16459200" cy="9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def respond(message, history, emb_choice, llm_choice, prompt_choice):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col, emb = EMB_MAP[emb_choice]; llm = LLMS[llm_choice]; pt = PROMPTS[prompt_choice]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r = rag(message, col, emb, llm, pt); history.append((message, r["answer"]))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59259"/>
            <a:chOff x="0" y="0"/>
            <a:chExt cx="24417871" cy="15456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28699"/>
                  </a:lnTo>
                  <a:cubicBezTo>
                    <a:pt x="24417782" y="1538097"/>
                    <a:pt x="24410163" y="1545590"/>
                    <a:pt x="244008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4400890" y="1511808"/>
                  </a:lnTo>
                  <a:lnTo>
                    <a:pt x="24400890" y="1528699"/>
                  </a:lnTo>
                  <a:lnTo>
                    <a:pt x="24384000" y="15286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0"/>
            <a:ext cx="16824960" cy="1133856"/>
            <a:chOff x="0" y="0"/>
            <a:chExt cx="22433280" cy="15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2433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Qualitative Analysis — What Differences Look Like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371600"/>
            <a:ext cx="16824960" cy="914400"/>
            <a:chOff x="0" y="0"/>
            <a:chExt cx="2243328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524" r="0" b="-3085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24332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spc="-15">
                  <a:solidFill>
                    <a:srgbClr val="1A2E3B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Beyond latency numbers, we compared what each configuration actually retrieves and generates for the same question. The differences are significant and directly affect usefulness.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414016"/>
            <a:ext cx="16824960" cy="548640"/>
            <a:chOff x="0" y="0"/>
            <a:chExt cx="224332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Retrieval: MiniLM vs MPNet — query: "What are the prohibited AI practices in the EU AI Act?"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3059687"/>
            <a:ext cx="8163563" cy="2439419"/>
            <a:chOff x="0" y="0"/>
            <a:chExt cx="10884751" cy="3252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850881" cy="3218688"/>
            </a:xfrm>
            <a:custGeom>
              <a:avLst/>
              <a:gdLst/>
              <a:ahLst/>
              <a:cxnLst/>
              <a:rect r="r" b="b" t="t" l="l"/>
              <a:pathLst>
                <a:path h="3218688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84662" cy="3252470"/>
            </a:xfrm>
            <a:custGeom>
              <a:avLst/>
              <a:gdLst/>
              <a:ahLst/>
              <a:cxnLst/>
              <a:rect r="r" b="b" t="t" l="l"/>
              <a:pathLst>
                <a:path h="3252470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3235579"/>
                  </a:lnTo>
                  <a:cubicBezTo>
                    <a:pt x="10884662" y="3244977"/>
                    <a:pt x="10877042" y="3252470"/>
                    <a:pt x="10867772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10867772" y="3218688"/>
                  </a:lnTo>
                  <a:lnTo>
                    <a:pt x="10867772" y="3235579"/>
                  </a:lnTo>
                  <a:lnTo>
                    <a:pt x="10850880" y="3235579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3059687"/>
            <a:ext cx="153419" cy="2439419"/>
            <a:chOff x="0" y="0"/>
            <a:chExt cx="204559" cy="3252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70688" cy="3218688"/>
            </a:xfrm>
            <a:custGeom>
              <a:avLst/>
              <a:gdLst/>
              <a:ahLst/>
              <a:cxnLst/>
              <a:rect r="r" b="b" t="t" l="l"/>
              <a:pathLst>
                <a:path h="32186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470" cy="3252470"/>
            </a:xfrm>
            <a:custGeom>
              <a:avLst/>
              <a:gdLst/>
              <a:ahLst/>
              <a:cxnLst/>
              <a:rect r="r" b="b" t="t" l="l"/>
              <a:pathLst>
                <a:path h="32524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235579"/>
                  </a:lnTo>
                  <a:cubicBezTo>
                    <a:pt x="204470" y="3244977"/>
                    <a:pt x="196850" y="3252470"/>
                    <a:pt x="187579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187579" y="3218688"/>
                  </a:lnTo>
                  <a:lnTo>
                    <a:pt x="187579" y="3235579"/>
                  </a:lnTo>
                  <a:lnTo>
                    <a:pt x="170688" y="32355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3200400"/>
            <a:ext cx="7498080" cy="512064"/>
            <a:chOff x="0" y="0"/>
            <a:chExt cx="999744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9974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MiniLM top result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3749040"/>
            <a:ext cx="7498080" cy="1609344"/>
            <a:chOff x="0" y="0"/>
            <a:chExt cx="9997440" cy="2145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2" r="0" b="-407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997440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Retrieves a general AI Act passage about scope and risk-based approach. Mentions 'prohibited practices' in passing but does not reach the specific Article 5 text. Shorter 384-dim vectors are less discriminative on dense legal language.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39863" y="3059687"/>
            <a:ext cx="8712203" cy="2439419"/>
            <a:chOff x="0" y="0"/>
            <a:chExt cx="11616271" cy="3252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582400" cy="3218688"/>
            </a:xfrm>
            <a:custGeom>
              <a:avLst/>
              <a:gdLst/>
              <a:ahLst/>
              <a:cxnLst/>
              <a:rect r="r" b="b" t="t" l="l"/>
              <a:pathLst>
                <a:path h="3218688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616182" cy="3252470"/>
            </a:xfrm>
            <a:custGeom>
              <a:avLst/>
              <a:gdLst/>
              <a:ahLst/>
              <a:cxnLst/>
              <a:rect r="r" b="b" t="t" l="l"/>
              <a:pathLst>
                <a:path h="3252470" w="11616182">
                  <a:moveTo>
                    <a:pt x="16891" y="0"/>
                  </a:moveTo>
                  <a:lnTo>
                    <a:pt x="11599291" y="0"/>
                  </a:lnTo>
                  <a:cubicBezTo>
                    <a:pt x="11608689" y="0"/>
                    <a:pt x="11616182" y="7620"/>
                    <a:pt x="11616182" y="16891"/>
                  </a:cubicBezTo>
                  <a:lnTo>
                    <a:pt x="11616182" y="3235579"/>
                  </a:lnTo>
                  <a:cubicBezTo>
                    <a:pt x="11616182" y="3244977"/>
                    <a:pt x="11608562" y="3252470"/>
                    <a:pt x="11599291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11599291" y="3218688"/>
                  </a:lnTo>
                  <a:lnTo>
                    <a:pt x="11599291" y="3235579"/>
                  </a:lnTo>
                  <a:lnTo>
                    <a:pt x="11582400" y="3235579"/>
                  </a:lnTo>
                  <a:lnTo>
                    <a:pt x="11582400" y="16891"/>
                  </a:lnTo>
                  <a:lnTo>
                    <a:pt x="11599291" y="16891"/>
                  </a:lnTo>
                  <a:lnTo>
                    <a:pt x="11599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039863" y="3059687"/>
            <a:ext cx="153419" cy="2439419"/>
            <a:chOff x="0" y="0"/>
            <a:chExt cx="204559" cy="3252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70688" cy="3218688"/>
            </a:xfrm>
            <a:custGeom>
              <a:avLst/>
              <a:gdLst/>
              <a:ahLst/>
              <a:cxnLst/>
              <a:rect r="r" b="b" t="t" l="l"/>
              <a:pathLst>
                <a:path h="321868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4470" cy="3252470"/>
            </a:xfrm>
            <a:custGeom>
              <a:avLst/>
              <a:gdLst/>
              <a:ahLst/>
              <a:cxnLst/>
              <a:rect r="r" b="b" t="t" l="l"/>
              <a:pathLst>
                <a:path h="325247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235579"/>
                  </a:lnTo>
                  <a:cubicBezTo>
                    <a:pt x="204470" y="3244977"/>
                    <a:pt x="196850" y="3252470"/>
                    <a:pt x="187579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187579" y="3218688"/>
                  </a:lnTo>
                  <a:lnTo>
                    <a:pt x="187579" y="3235579"/>
                  </a:lnTo>
                  <a:lnTo>
                    <a:pt x="170688" y="323557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18320" y="3200400"/>
            <a:ext cx="7955280" cy="512064"/>
            <a:chOff x="0" y="0"/>
            <a:chExt cx="1060704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07040" cy="682752"/>
            </a:xfrm>
            <a:custGeom>
              <a:avLst/>
              <a:gdLst/>
              <a:ahLst/>
              <a:cxnLst/>
              <a:rect r="r" b="b" t="t" l="l"/>
              <a:pathLst>
                <a:path h="68275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713" r="0" b="-25271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6070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97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MPNet top result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18320" y="3749040"/>
            <a:ext cx="7955280" cy="1609344"/>
            <a:chOff x="0" y="0"/>
            <a:chExt cx="10607040" cy="2145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07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18" r="0" b="-4631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607040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2E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Directly surfaces Article 5 listing prohibited practices: social scoring, real-time biometric surveillance, subliminal manipulation, exploitation of vulnerabilities. 768-dim vectors better distinguish fine-grained legal concepts.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1520" y="5669280"/>
            <a:ext cx="16824960" cy="548640"/>
            <a:chOff x="0" y="0"/>
            <a:chExt cx="224332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Answer quality comparison (same question, MPNet + flan-t5-large, k=3):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5943" y="6351527"/>
            <a:ext cx="8163563" cy="3408683"/>
            <a:chOff x="0" y="0"/>
            <a:chExt cx="10884751" cy="45449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8508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846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4527931"/>
                  </a:lnTo>
                  <a:cubicBezTo>
                    <a:pt x="10884662" y="4537329"/>
                    <a:pt x="10877042" y="4544822"/>
                    <a:pt x="108677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867772" y="4511040"/>
                  </a:lnTo>
                  <a:lnTo>
                    <a:pt x="10867772" y="4527931"/>
                  </a:lnTo>
                  <a:lnTo>
                    <a:pt x="10850880" y="45279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35943" y="6351527"/>
            <a:ext cx="153419" cy="3408683"/>
            <a:chOff x="0" y="0"/>
            <a:chExt cx="204559" cy="45449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4511040"/>
            </a:xfrm>
            <a:custGeom>
              <a:avLst/>
              <a:gdLst/>
              <a:ahLst/>
              <a:cxnLst/>
              <a:rect r="r" b="b" t="t" l="l"/>
              <a:pathLst>
                <a:path h="45110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4544822"/>
            </a:xfrm>
            <a:custGeom>
              <a:avLst/>
              <a:gdLst/>
              <a:ahLst/>
              <a:cxnLst/>
              <a:rect r="r" b="b" t="t" l="l"/>
              <a:pathLst>
                <a:path h="45448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0976" y="6510528"/>
            <a:ext cx="7315200" cy="512064"/>
            <a:chOff x="0" y="0"/>
            <a:chExt cx="975360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Basic prompt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0976" y="7077456"/>
            <a:ext cx="7315200" cy="2011680"/>
            <a:chOff x="0" y="0"/>
            <a:chExt cx="9753600" cy="2682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75360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A2E3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"AI practices that pose unacceptable risks are prohibited."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35943" y="9259319"/>
            <a:ext cx="8163563" cy="500891"/>
            <a:chOff x="0" y="0"/>
            <a:chExt cx="10884751" cy="6678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850881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884662" cy="667768"/>
            </a:xfrm>
            <a:custGeom>
              <a:avLst/>
              <a:gdLst/>
              <a:ahLst/>
              <a:cxnLst/>
              <a:rect r="r" b="b" t="t" l="l"/>
              <a:pathLst>
                <a:path h="667768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650875"/>
                  </a:lnTo>
                  <a:cubicBezTo>
                    <a:pt x="10884662" y="660273"/>
                    <a:pt x="10877042" y="667766"/>
                    <a:pt x="10867772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10867772" y="633984"/>
                  </a:lnTo>
                  <a:lnTo>
                    <a:pt x="10867772" y="650875"/>
                  </a:lnTo>
                  <a:lnTo>
                    <a:pt x="10850880" y="650875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272016"/>
            <a:ext cx="7680960" cy="475488"/>
            <a:chOff x="0" y="0"/>
            <a:chExt cx="10241280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2412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Vague — does not enumerate practices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22743" y="6351527"/>
            <a:ext cx="8163563" cy="3408683"/>
            <a:chOff x="0" y="0"/>
            <a:chExt cx="10884751" cy="45449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8508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846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4527931"/>
                  </a:lnTo>
                  <a:cubicBezTo>
                    <a:pt x="10884662" y="4537329"/>
                    <a:pt x="10877042" y="4544822"/>
                    <a:pt x="108677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0867772" y="4511040"/>
                  </a:lnTo>
                  <a:lnTo>
                    <a:pt x="10867772" y="4527931"/>
                  </a:lnTo>
                  <a:lnTo>
                    <a:pt x="10850880" y="452793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DEF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22743" y="6351527"/>
            <a:ext cx="153419" cy="3408683"/>
            <a:chOff x="0" y="0"/>
            <a:chExt cx="204559" cy="45449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4511040"/>
            </a:xfrm>
            <a:custGeom>
              <a:avLst/>
              <a:gdLst/>
              <a:ahLst/>
              <a:cxnLst/>
              <a:rect r="r" b="b" t="t" l="l"/>
              <a:pathLst>
                <a:path h="45110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4544822"/>
            </a:xfrm>
            <a:custGeom>
              <a:avLst/>
              <a:gdLst/>
              <a:ahLst/>
              <a:cxnLst/>
              <a:rect r="r" b="b" t="t" l="l"/>
              <a:pathLst>
                <a:path h="45448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637776" y="6510528"/>
            <a:ext cx="7315200" cy="512064"/>
            <a:chOff x="0" y="0"/>
            <a:chExt cx="97536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E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Expert prompt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37776" y="7077456"/>
            <a:ext cx="7315200" cy="2011680"/>
            <a:chOff x="0" y="0"/>
            <a:chExt cx="9753600" cy="2682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753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75360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1A2E3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"The EU AI Act prohibits: (1) subliminal manipulation, (2) exploitation of vulnerabilities, (3) social scoring by public authorities, (4) real-time remote biometric identification in public spaces except for narrow listed exceptions."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222743" y="9259319"/>
            <a:ext cx="8163563" cy="500891"/>
            <a:chOff x="0" y="0"/>
            <a:chExt cx="10884751" cy="6678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850881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884662" cy="667768"/>
            </a:xfrm>
            <a:custGeom>
              <a:avLst/>
              <a:gdLst/>
              <a:ahLst/>
              <a:cxnLst/>
              <a:rect r="r" b="b" t="t" l="l"/>
              <a:pathLst>
                <a:path h="667768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650875"/>
                  </a:lnTo>
                  <a:cubicBezTo>
                    <a:pt x="10884662" y="660273"/>
                    <a:pt x="10877042" y="667766"/>
                    <a:pt x="10867772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10867772" y="633984"/>
                  </a:lnTo>
                  <a:lnTo>
                    <a:pt x="10867772" y="650875"/>
                  </a:lnTo>
                  <a:lnTo>
                    <a:pt x="10850880" y="650875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09760" y="9272016"/>
            <a:ext cx="7680960" cy="475488"/>
            <a:chOff x="0" y="0"/>
            <a:chExt cx="10241280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2412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Accurate and specific — directly usable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75737" y="6388103"/>
            <a:ext cx="6426203" cy="6426203"/>
            <a:chOff x="0" y="0"/>
            <a:chExt cx="8568271" cy="8568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565C0">
                <a:alpha val="588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1565C0">
                <a:alpha val="5882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532103" y="-1475737"/>
            <a:ext cx="4597403" cy="4597403"/>
            <a:chOff x="0" y="0"/>
            <a:chExt cx="6129871" cy="612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0097A7">
                <a:alpha val="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0097A7">
                <a:alpha val="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12064"/>
            <a:ext cx="16459200" cy="1123818"/>
            <a:chOff x="0" y="0"/>
            <a:chExt cx="21945600" cy="1498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8424"/>
            </a:xfrm>
            <a:custGeom>
              <a:avLst/>
              <a:gdLst/>
              <a:ahLst/>
              <a:cxnLst/>
              <a:rect r="r" b="b" t="t" l="l"/>
              <a:pathLst>
                <a:path h="14984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24"/>
                  </a:lnTo>
                  <a:lnTo>
                    <a:pt x="0" y="1498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4" r="0" b="-23419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945600" cy="16127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Work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522301"/>
            <a:ext cx="16459200" cy="585216"/>
            <a:chOff x="0" y="0"/>
            <a:chExt cx="2194560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Improvements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6122" y="2481387"/>
            <a:ext cx="8346443" cy="3157063"/>
            <a:chOff x="0" y="0"/>
            <a:chExt cx="11128591" cy="42094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36729"/>
              <a:ext cx="11094720" cy="4135765"/>
            </a:xfrm>
            <a:custGeom>
              <a:avLst/>
              <a:gdLst/>
              <a:ahLst/>
              <a:cxnLst/>
              <a:rect r="r" b="b" t="t" l="l"/>
              <a:pathLst>
                <a:path h="4135765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135765"/>
                  </a:lnTo>
                  <a:lnTo>
                    <a:pt x="0" y="4135765"/>
                  </a:lnTo>
                  <a:close/>
                </a:path>
              </a:pathLst>
            </a:custGeom>
            <a:solidFill>
              <a:srgbClr val="0D213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28501" cy="4209223"/>
            </a:xfrm>
            <a:custGeom>
              <a:avLst/>
              <a:gdLst/>
              <a:ahLst/>
              <a:cxnLst/>
              <a:rect r="r" b="b" t="t" l="l"/>
              <a:pathLst>
                <a:path h="4209223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16570"/>
                    <a:pt x="11128501" y="36729"/>
                  </a:cubicBezTo>
                  <a:lnTo>
                    <a:pt x="11128501" y="4172494"/>
                  </a:lnTo>
                  <a:cubicBezTo>
                    <a:pt x="11128501" y="4192930"/>
                    <a:pt x="11120882" y="4209223"/>
                    <a:pt x="11111611" y="4209223"/>
                  </a:cubicBezTo>
                  <a:lnTo>
                    <a:pt x="16891" y="4209223"/>
                  </a:lnTo>
                  <a:cubicBezTo>
                    <a:pt x="7493" y="4209223"/>
                    <a:pt x="0" y="4192654"/>
                    <a:pt x="0" y="4172494"/>
                  </a:cubicBezTo>
                  <a:lnTo>
                    <a:pt x="0" y="36729"/>
                  </a:lnTo>
                  <a:cubicBezTo>
                    <a:pt x="0" y="16570"/>
                    <a:pt x="7620" y="0"/>
                    <a:pt x="16891" y="0"/>
                  </a:cubicBezTo>
                  <a:moveTo>
                    <a:pt x="16891" y="73735"/>
                  </a:moveTo>
                  <a:lnTo>
                    <a:pt x="16891" y="36729"/>
                  </a:lnTo>
                  <a:lnTo>
                    <a:pt x="33909" y="36729"/>
                  </a:lnTo>
                  <a:lnTo>
                    <a:pt x="33909" y="4172494"/>
                  </a:lnTo>
                  <a:lnTo>
                    <a:pt x="16891" y="4172494"/>
                  </a:lnTo>
                  <a:lnTo>
                    <a:pt x="16891" y="4135765"/>
                  </a:lnTo>
                  <a:lnTo>
                    <a:pt x="11111611" y="4135765"/>
                  </a:lnTo>
                  <a:lnTo>
                    <a:pt x="11111611" y="4172494"/>
                  </a:lnTo>
                  <a:lnTo>
                    <a:pt x="11094720" y="4172494"/>
                  </a:lnTo>
                  <a:lnTo>
                    <a:pt x="11094720" y="36729"/>
                  </a:lnTo>
                  <a:lnTo>
                    <a:pt x="11111611" y="36729"/>
                  </a:lnTo>
                  <a:lnTo>
                    <a:pt x="11111611" y="73735"/>
                  </a:lnTo>
                  <a:lnTo>
                    <a:pt x="16891" y="73735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3138" y="2707831"/>
            <a:ext cx="7680960" cy="1113475"/>
            <a:chOff x="0" y="0"/>
            <a:chExt cx="10241280" cy="14846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484634"/>
            </a:xfrm>
            <a:custGeom>
              <a:avLst/>
              <a:gdLst/>
              <a:ahLst/>
              <a:cxnLst/>
              <a:rect r="r" b="b" t="t" l="l"/>
              <a:pathLst>
                <a:path h="148463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84634"/>
                  </a:lnTo>
                  <a:lnTo>
                    <a:pt x="0" y="14846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17" r="0" b="-574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41280" cy="1522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Better LLM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3138" y="3632355"/>
            <a:ext cx="7680960" cy="1511145"/>
            <a:chOff x="0" y="0"/>
            <a:chExt cx="10241280" cy="20148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2014860"/>
            </a:xfrm>
            <a:custGeom>
              <a:avLst/>
              <a:gdLst/>
              <a:ahLst/>
              <a:cxnLst/>
              <a:rect r="r" b="b" t="t" l="l"/>
              <a:pathLst>
                <a:path h="20148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014860"/>
                  </a:lnTo>
                  <a:lnTo>
                    <a:pt x="0" y="2014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46" r="0" b="-220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241280" cy="206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7890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Replace flan-t5 with Mistral-7B-Instruct (4-bit via bitsandbytes). Estimated: &lt;1 s on GPU.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84362" y="2481387"/>
            <a:ext cx="8346443" cy="3157063"/>
            <a:chOff x="0" y="0"/>
            <a:chExt cx="11128591" cy="420941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36729"/>
              <a:ext cx="11094720" cy="4135765"/>
            </a:xfrm>
            <a:custGeom>
              <a:avLst/>
              <a:gdLst/>
              <a:ahLst/>
              <a:cxnLst/>
              <a:rect r="r" b="b" t="t" l="l"/>
              <a:pathLst>
                <a:path h="4135765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135765"/>
                  </a:lnTo>
                  <a:lnTo>
                    <a:pt x="0" y="4135765"/>
                  </a:lnTo>
                  <a:close/>
                </a:path>
              </a:pathLst>
            </a:custGeom>
            <a:solidFill>
              <a:srgbClr val="0D213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28501" cy="4209223"/>
            </a:xfrm>
            <a:custGeom>
              <a:avLst/>
              <a:gdLst/>
              <a:ahLst/>
              <a:cxnLst/>
              <a:rect r="r" b="b" t="t" l="l"/>
              <a:pathLst>
                <a:path h="4209223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16570"/>
                    <a:pt x="11128501" y="36729"/>
                  </a:cubicBezTo>
                  <a:lnTo>
                    <a:pt x="11128501" y="4172494"/>
                  </a:lnTo>
                  <a:cubicBezTo>
                    <a:pt x="11128501" y="4192930"/>
                    <a:pt x="11120882" y="4209223"/>
                    <a:pt x="11111611" y="4209223"/>
                  </a:cubicBezTo>
                  <a:lnTo>
                    <a:pt x="16891" y="4209223"/>
                  </a:lnTo>
                  <a:cubicBezTo>
                    <a:pt x="7493" y="4209223"/>
                    <a:pt x="0" y="4192654"/>
                    <a:pt x="0" y="4172494"/>
                  </a:cubicBezTo>
                  <a:lnTo>
                    <a:pt x="0" y="36729"/>
                  </a:lnTo>
                  <a:cubicBezTo>
                    <a:pt x="0" y="16570"/>
                    <a:pt x="7620" y="0"/>
                    <a:pt x="16891" y="0"/>
                  </a:cubicBezTo>
                  <a:moveTo>
                    <a:pt x="16891" y="73735"/>
                  </a:moveTo>
                  <a:lnTo>
                    <a:pt x="16891" y="36729"/>
                  </a:lnTo>
                  <a:lnTo>
                    <a:pt x="33909" y="36729"/>
                  </a:lnTo>
                  <a:lnTo>
                    <a:pt x="33909" y="4172494"/>
                  </a:lnTo>
                  <a:lnTo>
                    <a:pt x="16891" y="4172494"/>
                  </a:lnTo>
                  <a:lnTo>
                    <a:pt x="16891" y="4135765"/>
                  </a:lnTo>
                  <a:lnTo>
                    <a:pt x="11111611" y="4135765"/>
                  </a:lnTo>
                  <a:lnTo>
                    <a:pt x="11111611" y="4172494"/>
                  </a:lnTo>
                  <a:lnTo>
                    <a:pt x="11094720" y="4172494"/>
                  </a:lnTo>
                  <a:lnTo>
                    <a:pt x="11094720" y="36729"/>
                  </a:lnTo>
                  <a:lnTo>
                    <a:pt x="11111611" y="36729"/>
                  </a:lnTo>
                  <a:lnTo>
                    <a:pt x="11111611" y="73735"/>
                  </a:lnTo>
                  <a:lnTo>
                    <a:pt x="16891" y="73735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71378" y="2707831"/>
            <a:ext cx="7680960" cy="1113475"/>
            <a:chOff x="0" y="0"/>
            <a:chExt cx="10241280" cy="1484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1484634"/>
            </a:xfrm>
            <a:custGeom>
              <a:avLst/>
              <a:gdLst/>
              <a:ahLst/>
              <a:cxnLst/>
              <a:rect r="r" b="b" t="t" l="l"/>
              <a:pathLst>
                <a:path h="148463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84634"/>
                  </a:lnTo>
                  <a:lnTo>
                    <a:pt x="0" y="14846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17" r="0" b="-574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41280" cy="1522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Re-ranking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71378" y="3632355"/>
            <a:ext cx="7680960" cy="1511145"/>
            <a:chOff x="0" y="0"/>
            <a:chExt cx="10241280" cy="20148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2014860"/>
            </a:xfrm>
            <a:custGeom>
              <a:avLst/>
              <a:gdLst/>
              <a:ahLst/>
              <a:cxnLst/>
              <a:rect r="r" b="b" t="t" l="l"/>
              <a:pathLst>
                <a:path h="20148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014860"/>
                  </a:lnTo>
                  <a:lnTo>
                    <a:pt x="0" y="2014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46" r="0" b="-2203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241280" cy="206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5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7890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cross-encoder re-ranker (ms-marco-MiniLM) after retrieval to boost chunk relevance.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6122" y="6084013"/>
            <a:ext cx="8346443" cy="3174287"/>
            <a:chOff x="0" y="0"/>
            <a:chExt cx="11128591" cy="42323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36930"/>
              <a:ext cx="11094720" cy="4158329"/>
            </a:xfrm>
            <a:custGeom>
              <a:avLst/>
              <a:gdLst/>
              <a:ahLst/>
              <a:cxnLst/>
              <a:rect r="r" b="b" t="t" l="l"/>
              <a:pathLst>
                <a:path h="4158329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158328"/>
                  </a:lnTo>
                  <a:lnTo>
                    <a:pt x="0" y="4158328"/>
                  </a:lnTo>
                  <a:close/>
                </a:path>
              </a:pathLst>
            </a:custGeom>
            <a:solidFill>
              <a:srgbClr val="0D213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28501" cy="4232188"/>
            </a:xfrm>
            <a:custGeom>
              <a:avLst/>
              <a:gdLst/>
              <a:ahLst/>
              <a:cxnLst/>
              <a:rect r="r" b="b" t="t" l="l"/>
              <a:pathLst>
                <a:path h="423218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16660"/>
                    <a:pt x="11128501" y="36930"/>
                  </a:cubicBezTo>
                  <a:lnTo>
                    <a:pt x="11128501" y="4195258"/>
                  </a:lnTo>
                  <a:cubicBezTo>
                    <a:pt x="11128501" y="4215806"/>
                    <a:pt x="11120882" y="4232188"/>
                    <a:pt x="11111611" y="4232188"/>
                  </a:cubicBezTo>
                  <a:lnTo>
                    <a:pt x="16891" y="4232188"/>
                  </a:lnTo>
                  <a:cubicBezTo>
                    <a:pt x="7493" y="4232188"/>
                    <a:pt x="0" y="4215528"/>
                    <a:pt x="0" y="4195258"/>
                  </a:cubicBezTo>
                  <a:lnTo>
                    <a:pt x="0" y="36930"/>
                  </a:lnTo>
                  <a:cubicBezTo>
                    <a:pt x="0" y="16660"/>
                    <a:pt x="7620" y="0"/>
                    <a:pt x="16891" y="0"/>
                  </a:cubicBezTo>
                  <a:moveTo>
                    <a:pt x="16891" y="74137"/>
                  </a:moveTo>
                  <a:lnTo>
                    <a:pt x="16891" y="36930"/>
                  </a:lnTo>
                  <a:lnTo>
                    <a:pt x="33909" y="36930"/>
                  </a:lnTo>
                  <a:lnTo>
                    <a:pt x="33909" y="4195258"/>
                  </a:lnTo>
                  <a:lnTo>
                    <a:pt x="16891" y="4195258"/>
                  </a:lnTo>
                  <a:lnTo>
                    <a:pt x="16891" y="4158329"/>
                  </a:lnTo>
                  <a:lnTo>
                    <a:pt x="11111611" y="4158329"/>
                  </a:lnTo>
                  <a:lnTo>
                    <a:pt x="11111611" y="4195258"/>
                  </a:lnTo>
                  <a:lnTo>
                    <a:pt x="11094720" y="4195258"/>
                  </a:lnTo>
                  <a:lnTo>
                    <a:pt x="11094720" y="36930"/>
                  </a:lnTo>
                  <a:lnTo>
                    <a:pt x="11111611" y="36930"/>
                  </a:lnTo>
                  <a:lnTo>
                    <a:pt x="11111611" y="74137"/>
                  </a:lnTo>
                  <a:lnTo>
                    <a:pt x="16891" y="74137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93138" y="6311693"/>
            <a:ext cx="7680960" cy="1119550"/>
            <a:chOff x="0" y="0"/>
            <a:chExt cx="10241280" cy="14927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1492733"/>
            </a:xfrm>
            <a:custGeom>
              <a:avLst/>
              <a:gdLst/>
              <a:ahLst/>
              <a:cxnLst/>
              <a:rect r="r" b="b" t="t" l="l"/>
              <a:pathLst>
                <a:path h="149273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92733"/>
                  </a:lnTo>
                  <a:lnTo>
                    <a:pt x="0" y="14927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812" r="0" b="-565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241280" cy="1530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Answer quality metric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8700" y="7162449"/>
            <a:ext cx="7680960" cy="1519389"/>
            <a:chOff x="0" y="0"/>
            <a:chExt cx="10241280" cy="20258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2025853"/>
            </a:xfrm>
            <a:custGeom>
              <a:avLst/>
              <a:gdLst/>
              <a:ahLst/>
              <a:cxnLst/>
              <a:rect r="r" b="b" t="t" l="l"/>
              <a:pathLst>
                <a:path h="202585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025853"/>
                  </a:lnTo>
                  <a:lnTo>
                    <a:pt x="0" y="20258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33" r="0" b="-2137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41280" cy="2073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5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7890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ROUGE-L or BERTScore against reference answers for automated accuracy tracking.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84362" y="6084013"/>
            <a:ext cx="8346443" cy="3174287"/>
            <a:chOff x="0" y="0"/>
            <a:chExt cx="11128591" cy="423238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36930"/>
              <a:ext cx="11094720" cy="4158329"/>
            </a:xfrm>
            <a:custGeom>
              <a:avLst/>
              <a:gdLst/>
              <a:ahLst/>
              <a:cxnLst/>
              <a:rect r="r" b="b" t="t" l="l"/>
              <a:pathLst>
                <a:path h="4158329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158328"/>
                  </a:lnTo>
                  <a:lnTo>
                    <a:pt x="0" y="4158328"/>
                  </a:lnTo>
                  <a:close/>
                </a:path>
              </a:pathLst>
            </a:custGeom>
            <a:solidFill>
              <a:srgbClr val="0D213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28501" cy="4232188"/>
            </a:xfrm>
            <a:custGeom>
              <a:avLst/>
              <a:gdLst/>
              <a:ahLst/>
              <a:cxnLst/>
              <a:rect r="r" b="b" t="t" l="l"/>
              <a:pathLst>
                <a:path h="423218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16660"/>
                    <a:pt x="11128501" y="36930"/>
                  </a:cubicBezTo>
                  <a:lnTo>
                    <a:pt x="11128501" y="4195258"/>
                  </a:lnTo>
                  <a:cubicBezTo>
                    <a:pt x="11128501" y="4215806"/>
                    <a:pt x="11120882" y="4232188"/>
                    <a:pt x="11111611" y="4232188"/>
                  </a:cubicBezTo>
                  <a:lnTo>
                    <a:pt x="16891" y="4232188"/>
                  </a:lnTo>
                  <a:cubicBezTo>
                    <a:pt x="7493" y="4232188"/>
                    <a:pt x="0" y="4215528"/>
                    <a:pt x="0" y="4195258"/>
                  </a:cubicBezTo>
                  <a:lnTo>
                    <a:pt x="0" y="36930"/>
                  </a:lnTo>
                  <a:cubicBezTo>
                    <a:pt x="0" y="16660"/>
                    <a:pt x="7620" y="0"/>
                    <a:pt x="16891" y="0"/>
                  </a:cubicBezTo>
                  <a:moveTo>
                    <a:pt x="16891" y="74137"/>
                  </a:moveTo>
                  <a:lnTo>
                    <a:pt x="16891" y="36930"/>
                  </a:lnTo>
                  <a:lnTo>
                    <a:pt x="33909" y="36930"/>
                  </a:lnTo>
                  <a:lnTo>
                    <a:pt x="33909" y="4195258"/>
                  </a:lnTo>
                  <a:lnTo>
                    <a:pt x="16891" y="4195258"/>
                  </a:lnTo>
                  <a:lnTo>
                    <a:pt x="16891" y="4158329"/>
                  </a:lnTo>
                  <a:lnTo>
                    <a:pt x="11111611" y="4158329"/>
                  </a:lnTo>
                  <a:lnTo>
                    <a:pt x="11111611" y="4195258"/>
                  </a:lnTo>
                  <a:lnTo>
                    <a:pt x="11094720" y="4195258"/>
                  </a:lnTo>
                  <a:lnTo>
                    <a:pt x="11094720" y="36930"/>
                  </a:lnTo>
                  <a:lnTo>
                    <a:pt x="11111611" y="36930"/>
                  </a:lnTo>
                  <a:lnTo>
                    <a:pt x="11111611" y="74137"/>
                  </a:lnTo>
                  <a:lnTo>
                    <a:pt x="16891" y="74137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71378" y="6311693"/>
            <a:ext cx="7680960" cy="1119550"/>
            <a:chOff x="0" y="0"/>
            <a:chExt cx="10241280" cy="14927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0" cy="1492733"/>
            </a:xfrm>
            <a:custGeom>
              <a:avLst/>
              <a:gdLst/>
              <a:ahLst/>
              <a:cxnLst/>
              <a:rect r="r" b="b" t="t" l="l"/>
              <a:pathLst>
                <a:path h="149273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92733"/>
                  </a:lnTo>
                  <a:lnTo>
                    <a:pt x="0" y="14927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812" r="0" b="-565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41280" cy="1530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Multi-doc reasoning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71378" y="7162449"/>
            <a:ext cx="7680960" cy="1519389"/>
            <a:chOff x="0" y="0"/>
            <a:chExt cx="10241280" cy="20258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2025853"/>
            </a:xfrm>
            <a:custGeom>
              <a:avLst/>
              <a:gdLst/>
              <a:ahLst/>
              <a:cxnLst/>
              <a:rect r="r" b="b" t="t" l="l"/>
              <a:pathLst>
                <a:path h="202585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025853"/>
                  </a:lnTo>
                  <a:lnTo>
                    <a:pt x="0" y="20258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33" r="0" b="-2137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241280" cy="2073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59"/>
                </a:lnSpc>
                <a:spcBef>
                  <a:spcPct val="0"/>
                </a:spcBef>
              </a:pPr>
              <a:r>
                <a:rPr lang="en-US" sz="2299" strike="noStrike" u="none">
                  <a:solidFill>
                    <a:srgbClr val="7890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 queries requiring synthesis across all three policy documents simultaneously.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14447" y="3495642"/>
            <a:ext cx="5659107" cy="164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519"/>
              </a:lnSpc>
              <a:spcBef>
                <a:spcPct val="0"/>
              </a:spcBef>
            </a:pPr>
            <a:r>
              <a:rPr lang="en-US" b="true" sz="9600" strike="noStrike" u="non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DAHHY43o9xE</dc:identifier>
  <dcterms:modified xsi:type="dcterms:W3CDTF">2011-08-01T06:04:30Z</dcterms:modified>
  <cp:revision>1</cp:revision>
  <dc:title>RAG_Presentation.pptx</dc:title>
</cp:coreProperties>
</file>